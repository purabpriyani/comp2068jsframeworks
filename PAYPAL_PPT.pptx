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Lato" panose="020F0802020204030203" pitchFamily="34" charset="0"/>
      <p:regular r:id="rId20"/>
      <p:bold r:id="rId21"/>
      <p:boldItalic r:id="rId22"/>
    </p:embeddedFont>
    <p:embeddedFont>
      <p:font typeface="Lato Bold"/>
      <p:regular r:id="rId23"/>
    </p:embeddedFont>
    <p:embeddedFont>
      <p:font typeface="Lato Light" panose="020F0502020204030203" pitchFamily="3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jpe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hyperlink" Target="https://comp2068jsframeworks-12-x4so.onrender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PurabPriyani/COMP2068JSFrameworks" TargetMode="External"/><Relationship Id="rId5" Type="http://schemas.openxmlformats.org/officeDocument/2006/relationships/image" Target="../media/image32.png"/><Relationship Id="rId4" Type="http://schemas.openxmlformats.org/officeDocument/2006/relationships/hyperlink" Target="https://paypal-backend-1v6y.onrender.com/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sv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5" Type="http://schemas.openxmlformats.org/officeDocument/2006/relationships/image" Target="../media/image37.sv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3333" r="-83333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92238" y="2192948"/>
            <a:ext cx="9445526" cy="2696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PAYPAL </a:t>
            </a:r>
          </a:p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Full-Stack App with MongoDB, Mongoose, Node.js &amp; Angular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967115"/>
            <a:ext cx="9445526" cy="483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1"/>
              </a:lnSpc>
            </a:pPr>
            <a:r>
              <a:rPr lang="en-US" sz="24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Course:</a:t>
            </a:r>
            <a:r>
              <a:rPr lang="en-US" sz="24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COMP 2068 – JavaScript Frameworks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6724922"/>
            <a:ext cx="9445526" cy="46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1"/>
              </a:lnSpc>
              <a:spcBef>
                <a:spcPct val="0"/>
              </a:spcBef>
            </a:pPr>
            <a:r>
              <a:rPr lang="en-US" sz="2487" b="1" u="none" strike="noStrike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Team Members :</a:t>
            </a:r>
            <a:r>
              <a:rPr lang="en-US" sz="2487" u="none" strike="noStrike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Manan, Vishva, Dev, Neel, Purab, Parth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2633514"/>
            <a:chOff x="0" y="0"/>
            <a:chExt cx="24384000" cy="3511352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3511296"/>
            </a:xfrm>
            <a:custGeom>
              <a:avLst/>
              <a:gdLst/>
              <a:ahLst/>
              <a:cxnLst/>
              <a:rect l="l" t="t" r="r" b="b"/>
              <a:pathLst>
                <a:path w="24384000" h="3511296">
                  <a:moveTo>
                    <a:pt x="0" y="0"/>
                  </a:moveTo>
                  <a:lnTo>
                    <a:pt x="24384000" y="0"/>
                  </a:lnTo>
                  <a:lnTo>
                    <a:pt x="24384000" y="3511296"/>
                  </a:lnTo>
                  <a:lnTo>
                    <a:pt x="0" y="3511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7" r="-87" b="-1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37295" y="3184326"/>
            <a:ext cx="6158210" cy="70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1"/>
              </a:lnSpc>
            </a:pPr>
            <a:r>
              <a:rPr lang="en-US" sz="4524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Why This Stack Matters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7295" y="3983204"/>
            <a:ext cx="16813411" cy="79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02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Today, our group will walk you through how to build a </a:t>
            </a:r>
            <a:r>
              <a:rPr lang="en-US" sz="2024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real, full-stack web application</a:t>
            </a:r>
            <a:r>
              <a:rPr lang="en-US" sz="202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using modern JavaScript technologies that are transforming the industry.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7294" y="4962229"/>
            <a:ext cx="3286571" cy="365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462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Industry Relevance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7295" y="5366561"/>
            <a:ext cx="8149679" cy="1207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02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This stack is powering thousands of production applications worldwide, making it one of the most sought-after skillsets in web development today.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10550" y="4962228"/>
            <a:ext cx="4000649" cy="365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462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Beginner-Friendly Power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10551" y="5366561"/>
            <a:ext cx="8149679" cy="79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02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MongoDB, Express, and Angular form a powerful yet accessible ecosystem that lets you build real applications from day one.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7294" y="6722545"/>
            <a:ext cx="405705" cy="372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024" dirty="0">
                <a:solidFill>
                  <a:srgbClr val="4A4A45"/>
                </a:solidFill>
                <a:latin typeface="Lato Light"/>
                <a:ea typeface="Lato Light"/>
                <a:cs typeface="Lato Light"/>
                <a:sym typeface="Lato Light"/>
              </a:rPr>
              <a:t>01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37295" y="7137626"/>
            <a:ext cx="8301335" cy="28575"/>
            <a:chOff x="0" y="0"/>
            <a:chExt cx="11068447" cy="381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068431" cy="38100"/>
            </a:xfrm>
            <a:custGeom>
              <a:avLst/>
              <a:gdLst/>
              <a:ahLst/>
              <a:cxnLst/>
              <a:rect l="l" t="t" r="r" b="b"/>
              <a:pathLst>
                <a:path w="11068431" h="38100">
                  <a:moveTo>
                    <a:pt x="0" y="0"/>
                  </a:moveTo>
                  <a:lnTo>
                    <a:pt x="11068431" y="0"/>
                  </a:lnTo>
                  <a:lnTo>
                    <a:pt x="1106843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37295" y="7290472"/>
            <a:ext cx="3338512" cy="37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4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MongoDB Data Storage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7295" y="7669836"/>
            <a:ext cx="8301335" cy="388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02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Learn how document databases store and retrieve data efficiently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49221" y="6722544"/>
            <a:ext cx="526692" cy="372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024" dirty="0">
                <a:solidFill>
                  <a:srgbClr val="4A4A45"/>
                </a:solidFill>
                <a:latin typeface="Lato Light"/>
                <a:ea typeface="Lato Light"/>
                <a:cs typeface="Lato Light"/>
                <a:sym typeface="Lato Light"/>
              </a:rPr>
              <a:t>02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249221" y="7137626"/>
            <a:ext cx="8301484" cy="28575"/>
            <a:chOff x="0" y="0"/>
            <a:chExt cx="11068645" cy="381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068685" cy="38100"/>
            </a:xfrm>
            <a:custGeom>
              <a:avLst/>
              <a:gdLst/>
              <a:ahLst/>
              <a:cxnLst/>
              <a:rect l="l" t="t" r="r" b="b"/>
              <a:pathLst>
                <a:path w="11068685" h="38100">
                  <a:moveTo>
                    <a:pt x="0" y="0"/>
                  </a:moveTo>
                  <a:lnTo>
                    <a:pt x="11068685" y="0"/>
                  </a:lnTo>
                  <a:lnTo>
                    <a:pt x="1106868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249221" y="7290472"/>
            <a:ext cx="4010769" cy="37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4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Mongoose Connection Layer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49221" y="7669836"/>
            <a:ext cx="8301484" cy="388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02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Understand how to structure and validate your data models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7295" y="8179445"/>
            <a:ext cx="405704" cy="372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024" dirty="0">
                <a:solidFill>
                  <a:srgbClr val="4A4A45"/>
                </a:solidFill>
                <a:latin typeface="Lato Light"/>
                <a:ea typeface="Lato Light"/>
                <a:cs typeface="Lato Light"/>
                <a:sym typeface="Lato Light"/>
              </a:rPr>
              <a:t>03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737295" y="8594526"/>
            <a:ext cx="8301335" cy="28575"/>
            <a:chOff x="0" y="0"/>
            <a:chExt cx="11068447" cy="381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068431" cy="38100"/>
            </a:xfrm>
            <a:custGeom>
              <a:avLst/>
              <a:gdLst/>
              <a:ahLst/>
              <a:cxnLst/>
              <a:rect l="l" t="t" r="r" b="b"/>
              <a:pathLst>
                <a:path w="11068431" h="38100">
                  <a:moveTo>
                    <a:pt x="0" y="0"/>
                  </a:moveTo>
                  <a:lnTo>
                    <a:pt x="11068431" y="0"/>
                  </a:lnTo>
                  <a:lnTo>
                    <a:pt x="1106843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37294" y="8747374"/>
            <a:ext cx="5282505" cy="365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462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Frontend-Backend Communication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7295" y="9126736"/>
            <a:ext cx="8301335" cy="388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02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Master HTTP requests and REST APIs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249221" y="8179444"/>
            <a:ext cx="526692" cy="3726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024" dirty="0">
                <a:solidFill>
                  <a:srgbClr val="4A4A45"/>
                </a:solidFill>
                <a:latin typeface="Lato Light"/>
                <a:ea typeface="Lato Light"/>
                <a:cs typeface="Lato Light"/>
                <a:sym typeface="Lato Light"/>
              </a:rPr>
              <a:t>04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249221" y="8594526"/>
            <a:ext cx="8301484" cy="28575"/>
            <a:chOff x="0" y="0"/>
            <a:chExt cx="11068645" cy="381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068685" cy="38100"/>
            </a:xfrm>
            <a:custGeom>
              <a:avLst/>
              <a:gdLst/>
              <a:ahLst/>
              <a:cxnLst/>
              <a:rect l="l" t="t" r="r" b="b"/>
              <a:pathLst>
                <a:path w="11068685" h="38100">
                  <a:moveTo>
                    <a:pt x="0" y="0"/>
                  </a:moveTo>
                  <a:lnTo>
                    <a:pt x="11068685" y="0"/>
                  </a:lnTo>
                  <a:lnTo>
                    <a:pt x="1106868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249221" y="8747374"/>
            <a:ext cx="3323779" cy="365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462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Cloud Deployment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49221" y="9126736"/>
            <a:ext cx="8301484" cy="388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02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Deploy your full application to production using Render and Atlas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53516" y="572989"/>
            <a:ext cx="4758035" cy="666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5"/>
              </a:lnSpc>
            </a:pPr>
            <a:r>
              <a:rPr lang="en-US" sz="42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What is MongoDB?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3516" y="1705124"/>
            <a:ext cx="9858524" cy="69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17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MongoDB is a </a:t>
            </a:r>
            <a:r>
              <a:rPr lang="en-US" sz="17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NoSQL document database</a:t>
            </a:r>
            <a:r>
              <a:rPr lang="en-US" sz="17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that revolutionises how we think about data storage in modern applications.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53516" y="2712541"/>
            <a:ext cx="4821585" cy="2532012"/>
            <a:chOff x="0" y="0"/>
            <a:chExt cx="6428780" cy="33760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28740" cy="3376041"/>
            </a:xfrm>
            <a:custGeom>
              <a:avLst/>
              <a:gdLst/>
              <a:ahLst/>
              <a:cxnLst/>
              <a:rect l="l" t="t" r="r" b="b"/>
              <a:pathLst>
                <a:path w="6428740" h="3376041">
                  <a:moveTo>
                    <a:pt x="0" y="43053"/>
                  </a:moveTo>
                  <a:cubicBezTo>
                    <a:pt x="0" y="19304"/>
                    <a:pt x="19304" y="0"/>
                    <a:pt x="43053" y="0"/>
                  </a:cubicBezTo>
                  <a:lnTo>
                    <a:pt x="6385687" y="0"/>
                  </a:lnTo>
                  <a:cubicBezTo>
                    <a:pt x="6409436" y="0"/>
                    <a:pt x="6428740" y="19304"/>
                    <a:pt x="6428740" y="43053"/>
                  </a:cubicBezTo>
                  <a:lnTo>
                    <a:pt x="6428740" y="3332988"/>
                  </a:lnTo>
                  <a:cubicBezTo>
                    <a:pt x="6428740" y="3356737"/>
                    <a:pt x="6409436" y="3376041"/>
                    <a:pt x="6385687" y="3376041"/>
                  </a:cubicBezTo>
                  <a:lnTo>
                    <a:pt x="43053" y="3376041"/>
                  </a:lnTo>
                  <a:cubicBezTo>
                    <a:pt x="19304" y="3376041"/>
                    <a:pt x="0" y="3356737"/>
                    <a:pt x="0" y="3332988"/>
                  </a:cubicBezTo>
                  <a:close/>
                </a:path>
              </a:pathLst>
            </a:custGeom>
            <a:solidFill>
              <a:srgbClr val="E5DFD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68722" y="2927748"/>
            <a:ext cx="645765" cy="645765"/>
            <a:chOff x="0" y="0"/>
            <a:chExt cx="861020" cy="8610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61060" cy="861060"/>
            </a:xfrm>
            <a:custGeom>
              <a:avLst/>
              <a:gdLst/>
              <a:ahLst/>
              <a:cxnLst/>
              <a:rect l="l" t="t" r="r" b="b"/>
              <a:pathLst>
                <a:path w="861060" h="861060">
                  <a:moveTo>
                    <a:pt x="0" y="430530"/>
                  </a:moveTo>
                  <a:cubicBezTo>
                    <a:pt x="0" y="192786"/>
                    <a:pt x="192786" y="0"/>
                    <a:pt x="430530" y="0"/>
                  </a:cubicBezTo>
                  <a:cubicBezTo>
                    <a:pt x="668274" y="0"/>
                    <a:pt x="861060" y="192786"/>
                    <a:pt x="861060" y="430530"/>
                  </a:cubicBezTo>
                  <a:cubicBezTo>
                    <a:pt x="861060" y="668274"/>
                    <a:pt x="668274" y="861060"/>
                    <a:pt x="430530" y="861060"/>
                  </a:cubicBezTo>
                  <a:cubicBezTo>
                    <a:pt x="192786" y="861060"/>
                    <a:pt x="0" y="668274"/>
                    <a:pt x="0" y="430530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2" name="Freeform 12" descr="preencoded.png"/>
          <p:cNvSpPr/>
          <p:nvPr/>
        </p:nvSpPr>
        <p:spPr>
          <a:xfrm>
            <a:off x="1146274" y="3105299"/>
            <a:ext cx="290513" cy="290512"/>
          </a:xfrm>
          <a:custGeom>
            <a:avLst/>
            <a:gdLst/>
            <a:ahLst/>
            <a:cxnLst/>
            <a:rect l="l" t="t" r="r" b="b"/>
            <a:pathLst>
              <a:path w="290513" h="290512">
                <a:moveTo>
                  <a:pt x="0" y="0"/>
                </a:moveTo>
                <a:lnTo>
                  <a:pt x="290512" y="0"/>
                </a:lnTo>
                <a:lnTo>
                  <a:pt x="290512" y="290512"/>
                </a:lnTo>
                <a:lnTo>
                  <a:pt x="0" y="2905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1290" b="-11290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3" name="TextBox 13"/>
          <p:cNvSpPr txBox="1"/>
          <p:nvPr/>
        </p:nvSpPr>
        <p:spPr>
          <a:xfrm>
            <a:off x="968722" y="3769667"/>
            <a:ext cx="2785318" cy="34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2"/>
              </a:lnSpc>
            </a:pPr>
            <a:r>
              <a:rPr lang="en-US" sz="216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JSON-Like Documents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8722" y="4264075"/>
            <a:ext cx="4391174" cy="69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17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Stores data as flexible BSON documents, making it natural for JavaScript developers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790308" y="2712541"/>
            <a:ext cx="4821734" cy="2532012"/>
            <a:chOff x="0" y="0"/>
            <a:chExt cx="6428978" cy="337601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28994" cy="3376041"/>
            </a:xfrm>
            <a:custGeom>
              <a:avLst/>
              <a:gdLst/>
              <a:ahLst/>
              <a:cxnLst/>
              <a:rect l="l" t="t" r="r" b="b"/>
              <a:pathLst>
                <a:path w="6428994" h="3376041">
                  <a:moveTo>
                    <a:pt x="0" y="43053"/>
                  </a:moveTo>
                  <a:cubicBezTo>
                    <a:pt x="0" y="19304"/>
                    <a:pt x="19304" y="0"/>
                    <a:pt x="43053" y="0"/>
                  </a:cubicBezTo>
                  <a:lnTo>
                    <a:pt x="6385941" y="0"/>
                  </a:lnTo>
                  <a:cubicBezTo>
                    <a:pt x="6409690" y="0"/>
                    <a:pt x="6428994" y="19304"/>
                    <a:pt x="6428994" y="43053"/>
                  </a:cubicBezTo>
                  <a:lnTo>
                    <a:pt x="6428994" y="3332988"/>
                  </a:lnTo>
                  <a:cubicBezTo>
                    <a:pt x="6428994" y="3356737"/>
                    <a:pt x="6409690" y="3376041"/>
                    <a:pt x="6385941" y="3376041"/>
                  </a:cubicBezTo>
                  <a:lnTo>
                    <a:pt x="43053" y="3376041"/>
                  </a:lnTo>
                  <a:cubicBezTo>
                    <a:pt x="19304" y="3376041"/>
                    <a:pt x="0" y="3356737"/>
                    <a:pt x="0" y="3332988"/>
                  </a:cubicBezTo>
                  <a:close/>
                </a:path>
              </a:pathLst>
            </a:custGeom>
            <a:solidFill>
              <a:srgbClr val="E5DFD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05512" y="2927748"/>
            <a:ext cx="645765" cy="645765"/>
            <a:chOff x="0" y="0"/>
            <a:chExt cx="861020" cy="86102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1060" cy="861060"/>
            </a:xfrm>
            <a:custGeom>
              <a:avLst/>
              <a:gdLst/>
              <a:ahLst/>
              <a:cxnLst/>
              <a:rect l="l" t="t" r="r" b="b"/>
              <a:pathLst>
                <a:path w="861060" h="861060">
                  <a:moveTo>
                    <a:pt x="0" y="430530"/>
                  </a:moveTo>
                  <a:cubicBezTo>
                    <a:pt x="0" y="192786"/>
                    <a:pt x="192786" y="0"/>
                    <a:pt x="430530" y="0"/>
                  </a:cubicBezTo>
                  <a:cubicBezTo>
                    <a:pt x="668274" y="0"/>
                    <a:pt x="861060" y="192786"/>
                    <a:pt x="861060" y="430530"/>
                  </a:cubicBezTo>
                  <a:cubicBezTo>
                    <a:pt x="861060" y="668274"/>
                    <a:pt x="668274" y="861060"/>
                    <a:pt x="430530" y="861060"/>
                  </a:cubicBezTo>
                  <a:cubicBezTo>
                    <a:pt x="192786" y="861060"/>
                    <a:pt x="0" y="668274"/>
                    <a:pt x="0" y="430530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9" name="Freeform 19" descr="preencoded.png"/>
          <p:cNvSpPr/>
          <p:nvPr/>
        </p:nvSpPr>
        <p:spPr>
          <a:xfrm>
            <a:off x="6183065" y="3105299"/>
            <a:ext cx="290512" cy="290512"/>
          </a:xfrm>
          <a:custGeom>
            <a:avLst/>
            <a:gdLst/>
            <a:ahLst/>
            <a:cxnLst/>
            <a:rect l="l" t="t" r="r" b="b"/>
            <a:pathLst>
              <a:path w="290512" h="290512">
                <a:moveTo>
                  <a:pt x="0" y="0"/>
                </a:moveTo>
                <a:lnTo>
                  <a:pt x="290512" y="0"/>
                </a:lnTo>
                <a:lnTo>
                  <a:pt x="290512" y="290512"/>
                </a:lnTo>
                <a:lnTo>
                  <a:pt x="0" y="290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9677" b="-9677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0" name="TextBox 20"/>
          <p:cNvSpPr txBox="1"/>
          <p:nvPr/>
        </p:nvSpPr>
        <p:spPr>
          <a:xfrm>
            <a:off x="6005512" y="3769667"/>
            <a:ext cx="2986088" cy="328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52"/>
              </a:lnSpc>
            </a:pPr>
            <a:r>
              <a:rPr lang="en-US" sz="2162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Schema Flexibility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05512" y="4264075"/>
            <a:ext cx="4391323" cy="69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17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No rigid schemas required—adapt your data structure as your app evolves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53516" y="5459760"/>
            <a:ext cx="9858524" cy="2187476"/>
            <a:chOff x="0" y="0"/>
            <a:chExt cx="13144698" cy="291663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144754" cy="2916682"/>
            </a:xfrm>
            <a:custGeom>
              <a:avLst/>
              <a:gdLst/>
              <a:ahLst/>
              <a:cxnLst/>
              <a:rect l="l" t="t" r="r" b="b"/>
              <a:pathLst>
                <a:path w="13144754" h="2916682">
                  <a:moveTo>
                    <a:pt x="0" y="43053"/>
                  </a:moveTo>
                  <a:cubicBezTo>
                    <a:pt x="0" y="19304"/>
                    <a:pt x="19304" y="0"/>
                    <a:pt x="43053" y="0"/>
                  </a:cubicBezTo>
                  <a:lnTo>
                    <a:pt x="13101701" y="0"/>
                  </a:lnTo>
                  <a:cubicBezTo>
                    <a:pt x="13125450" y="0"/>
                    <a:pt x="13144754" y="19304"/>
                    <a:pt x="13144754" y="43053"/>
                  </a:cubicBezTo>
                  <a:lnTo>
                    <a:pt x="13144754" y="2873629"/>
                  </a:lnTo>
                  <a:cubicBezTo>
                    <a:pt x="13144754" y="2897378"/>
                    <a:pt x="13125450" y="2916682"/>
                    <a:pt x="13101701" y="2916682"/>
                  </a:cubicBezTo>
                  <a:lnTo>
                    <a:pt x="43053" y="2916682"/>
                  </a:lnTo>
                  <a:cubicBezTo>
                    <a:pt x="19304" y="2916682"/>
                    <a:pt x="0" y="2897378"/>
                    <a:pt x="0" y="2873629"/>
                  </a:cubicBezTo>
                  <a:close/>
                </a:path>
              </a:pathLst>
            </a:custGeom>
            <a:solidFill>
              <a:srgbClr val="E5DFD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68722" y="5674965"/>
            <a:ext cx="645765" cy="645765"/>
            <a:chOff x="0" y="0"/>
            <a:chExt cx="861020" cy="8610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61060" cy="861060"/>
            </a:xfrm>
            <a:custGeom>
              <a:avLst/>
              <a:gdLst/>
              <a:ahLst/>
              <a:cxnLst/>
              <a:rect l="l" t="t" r="r" b="b"/>
              <a:pathLst>
                <a:path w="861060" h="861060">
                  <a:moveTo>
                    <a:pt x="0" y="430530"/>
                  </a:moveTo>
                  <a:cubicBezTo>
                    <a:pt x="0" y="192786"/>
                    <a:pt x="192786" y="0"/>
                    <a:pt x="430530" y="0"/>
                  </a:cubicBezTo>
                  <a:cubicBezTo>
                    <a:pt x="668274" y="0"/>
                    <a:pt x="861060" y="192786"/>
                    <a:pt x="861060" y="430530"/>
                  </a:cubicBezTo>
                  <a:cubicBezTo>
                    <a:pt x="861060" y="668274"/>
                    <a:pt x="668274" y="861060"/>
                    <a:pt x="430530" y="861060"/>
                  </a:cubicBezTo>
                  <a:cubicBezTo>
                    <a:pt x="192786" y="861060"/>
                    <a:pt x="0" y="668274"/>
                    <a:pt x="0" y="430530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6" name="Freeform 26" descr="preencoded.png"/>
          <p:cNvSpPr/>
          <p:nvPr/>
        </p:nvSpPr>
        <p:spPr>
          <a:xfrm>
            <a:off x="1146274" y="5852517"/>
            <a:ext cx="290513" cy="290512"/>
          </a:xfrm>
          <a:custGeom>
            <a:avLst/>
            <a:gdLst/>
            <a:ahLst/>
            <a:cxnLst/>
            <a:rect l="l" t="t" r="r" b="b"/>
            <a:pathLst>
              <a:path w="290513" h="290512">
                <a:moveTo>
                  <a:pt x="0" y="0"/>
                </a:moveTo>
                <a:lnTo>
                  <a:pt x="290512" y="0"/>
                </a:lnTo>
                <a:lnTo>
                  <a:pt x="290512" y="290513"/>
                </a:lnTo>
                <a:lnTo>
                  <a:pt x="0" y="2905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6451" r="-6451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7" name="TextBox 27"/>
          <p:cNvSpPr txBox="1"/>
          <p:nvPr/>
        </p:nvSpPr>
        <p:spPr>
          <a:xfrm>
            <a:off x="968722" y="6516886"/>
            <a:ext cx="2003078" cy="3283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52"/>
              </a:lnSpc>
            </a:pPr>
            <a:r>
              <a:rPr lang="en-US" sz="2162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Cloud-Ready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8722" y="7011292"/>
            <a:ext cx="9428112" cy="339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17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Seamlessly integrates with MongoDB Atlas for production-ready deployments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3516" y="7870329"/>
            <a:ext cx="3249960" cy="34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2"/>
              </a:lnSpc>
            </a:pPr>
            <a:r>
              <a:rPr lang="en-US" sz="21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Why We Chose MongoDB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3516" y="8364736"/>
            <a:ext cx="9858524" cy="339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9577" lvl="1" indent="-134788" algn="l">
              <a:lnSpc>
                <a:spcPts val="2846"/>
              </a:lnSpc>
              <a:buFont typeface="Arial"/>
              <a:buChar char="•"/>
            </a:pPr>
            <a:r>
              <a:rPr lang="en-US" sz="17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Intuitive for JavaScript developers—everything feels like working with objects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3516" y="8784580"/>
            <a:ext cx="9858524" cy="339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9577" lvl="1" indent="-134788" algn="l">
              <a:lnSpc>
                <a:spcPts val="2846"/>
              </a:lnSpc>
              <a:buFont typeface="Arial"/>
              <a:buChar char="•"/>
            </a:pPr>
            <a:r>
              <a:rPr lang="en-US" sz="17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Perfect for rapid prototyping and iterative development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3516" y="9204424"/>
            <a:ext cx="9858524" cy="339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69577" lvl="1" indent="-134788" algn="l">
              <a:lnSpc>
                <a:spcPts val="2846"/>
              </a:lnSpc>
              <a:buFont typeface="Arial"/>
              <a:buChar char="•"/>
            </a:pPr>
            <a:r>
              <a:rPr lang="en-US" sz="17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Scales effortlessly from learning projects to production applications</a:t>
            </a:r>
          </a:p>
        </p:txBody>
      </p:sp>
      <p:grpSp>
        <p:nvGrpSpPr>
          <p:cNvPr id="33" name="Group 33"/>
          <p:cNvGrpSpPr>
            <a:grpSpLocks noChangeAspect="1"/>
          </p:cNvGrpSpPr>
          <p:nvPr/>
        </p:nvGrpSpPr>
        <p:grpSpPr>
          <a:xfrm>
            <a:off x="11146631" y="1829841"/>
            <a:ext cx="6397229" cy="3275559"/>
            <a:chOff x="0" y="0"/>
            <a:chExt cx="8529638" cy="4367412"/>
          </a:xfrm>
        </p:grpSpPr>
        <p:sp>
          <p:nvSpPr>
            <p:cNvPr id="34" name="Freeform 34" descr="preencoded.png"/>
            <p:cNvSpPr/>
            <p:nvPr/>
          </p:nvSpPr>
          <p:spPr>
            <a:xfrm>
              <a:off x="0" y="0"/>
              <a:ext cx="8529701" cy="4367403"/>
            </a:xfrm>
            <a:custGeom>
              <a:avLst/>
              <a:gdLst/>
              <a:ahLst/>
              <a:cxnLst/>
              <a:rect l="l" t="t" r="r" b="b"/>
              <a:pathLst>
                <a:path w="8529701" h="4367403">
                  <a:moveTo>
                    <a:pt x="0" y="0"/>
                  </a:moveTo>
                  <a:lnTo>
                    <a:pt x="8529701" y="0"/>
                  </a:lnTo>
                  <a:lnTo>
                    <a:pt x="8529701" y="4367403"/>
                  </a:lnTo>
                  <a:lnTo>
                    <a:pt x="0" y="4367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2" r="-11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1291" r="-81291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6174" y="2395686"/>
            <a:ext cx="181273" cy="816174"/>
            <a:chOff x="0" y="0"/>
            <a:chExt cx="241697" cy="10882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1681" cy="1088263"/>
            </a:xfrm>
            <a:custGeom>
              <a:avLst/>
              <a:gdLst/>
              <a:ahLst/>
              <a:cxnLst/>
              <a:rect l="l" t="t" r="r" b="b"/>
              <a:pathLst>
                <a:path w="241681" h="1088263">
                  <a:moveTo>
                    <a:pt x="0" y="36322"/>
                  </a:moveTo>
                  <a:cubicBezTo>
                    <a:pt x="0" y="16256"/>
                    <a:pt x="16256" y="0"/>
                    <a:pt x="36322" y="0"/>
                  </a:cubicBezTo>
                  <a:lnTo>
                    <a:pt x="205359" y="0"/>
                  </a:lnTo>
                  <a:cubicBezTo>
                    <a:pt x="225425" y="0"/>
                    <a:pt x="241681" y="16256"/>
                    <a:pt x="241681" y="36322"/>
                  </a:cubicBezTo>
                  <a:lnTo>
                    <a:pt x="241681" y="1051941"/>
                  </a:lnTo>
                  <a:cubicBezTo>
                    <a:pt x="241681" y="1072007"/>
                    <a:pt x="225425" y="1088263"/>
                    <a:pt x="205359" y="1088263"/>
                  </a:cubicBezTo>
                  <a:lnTo>
                    <a:pt x="36322" y="1088263"/>
                  </a:lnTo>
                  <a:cubicBezTo>
                    <a:pt x="16256" y="1088263"/>
                    <a:pt x="0" y="1072007"/>
                    <a:pt x="0" y="1051941"/>
                  </a:cubicBezTo>
                  <a:close/>
                </a:path>
              </a:pathLst>
            </a:custGeom>
            <a:solidFill>
              <a:srgbClr val="E5DFD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34752" y="2276624"/>
            <a:ext cx="544116" cy="544116"/>
            <a:chOff x="0" y="0"/>
            <a:chExt cx="725488" cy="7254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5551" cy="725551"/>
            </a:xfrm>
            <a:custGeom>
              <a:avLst/>
              <a:gdLst/>
              <a:ahLst/>
              <a:cxnLst/>
              <a:rect l="l" t="t" r="r" b="b"/>
              <a:pathLst>
                <a:path w="725551" h="725551">
                  <a:moveTo>
                    <a:pt x="0" y="362712"/>
                  </a:moveTo>
                  <a:cubicBezTo>
                    <a:pt x="0" y="162433"/>
                    <a:pt x="162433" y="0"/>
                    <a:pt x="362712" y="0"/>
                  </a:cubicBezTo>
                  <a:cubicBezTo>
                    <a:pt x="562991" y="0"/>
                    <a:pt x="725551" y="162433"/>
                    <a:pt x="725551" y="362712"/>
                  </a:cubicBezTo>
                  <a:cubicBezTo>
                    <a:pt x="725551" y="562991"/>
                    <a:pt x="563118" y="725551"/>
                    <a:pt x="362712" y="725551"/>
                  </a:cubicBezTo>
                  <a:cubicBezTo>
                    <a:pt x="162306" y="725551"/>
                    <a:pt x="0" y="563118"/>
                    <a:pt x="0" y="362712"/>
                  </a:cubicBezTo>
                  <a:close/>
                </a:path>
              </a:pathLst>
            </a:custGeom>
            <a:solidFill>
              <a:srgbClr val="E5DFD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4" name="Freeform 14" descr="preencoded.png"/>
          <p:cNvSpPr/>
          <p:nvPr/>
        </p:nvSpPr>
        <p:spPr>
          <a:xfrm>
            <a:off x="770781" y="2412652"/>
            <a:ext cx="272058" cy="272057"/>
          </a:xfrm>
          <a:custGeom>
            <a:avLst/>
            <a:gdLst/>
            <a:ahLst/>
            <a:cxnLst/>
            <a:rect l="l" t="t" r="r" b="b"/>
            <a:pathLst>
              <a:path w="272058" h="272057">
                <a:moveTo>
                  <a:pt x="0" y="0"/>
                </a:moveTo>
                <a:lnTo>
                  <a:pt x="272058" y="0"/>
                </a:lnTo>
                <a:lnTo>
                  <a:pt x="272058" y="272058"/>
                </a:lnTo>
                <a:lnTo>
                  <a:pt x="0" y="2720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8620" r="-8620"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15" name="Group 15"/>
          <p:cNvGrpSpPr/>
          <p:nvPr/>
        </p:nvGrpSpPr>
        <p:grpSpPr>
          <a:xfrm>
            <a:off x="1088231" y="3665339"/>
            <a:ext cx="181272" cy="816174"/>
            <a:chOff x="0" y="0"/>
            <a:chExt cx="241697" cy="10882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1681" cy="1088263"/>
            </a:xfrm>
            <a:custGeom>
              <a:avLst/>
              <a:gdLst/>
              <a:ahLst/>
              <a:cxnLst/>
              <a:rect l="l" t="t" r="r" b="b"/>
              <a:pathLst>
                <a:path w="241681" h="1088263">
                  <a:moveTo>
                    <a:pt x="0" y="36322"/>
                  </a:moveTo>
                  <a:cubicBezTo>
                    <a:pt x="0" y="16256"/>
                    <a:pt x="16256" y="0"/>
                    <a:pt x="36322" y="0"/>
                  </a:cubicBezTo>
                  <a:lnTo>
                    <a:pt x="205359" y="0"/>
                  </a:lnTo>
                  <a:cubicBezTo>
                    <a:pt x="225425" y="0"/>
                    <a:pt x="241681" y="16256"/>
                    <a:pt x="241681" y="36322"/>
                  </a:cubicBezTo>
                  <a:lnTo>
                    <a:pt x="241681" y="1051941"/>
                  </a:lnTo>
                  <a:cubicBezTo>
                    <a:pt x="241681" y="1072007"/>
                    <a:pt x="225425" y="1088263"/>
                    <a:pt x="205359" y="1088263"/>
                  </a:cubicBezTo>
                  <a:lnTo>
                    <a:pt x="36322" y="1088263"/>
                  </a:lnTo>
                  <a:cubicBezTo>
                    <a:pt x="16256" y="1088263"/>
                    <a:pt x="0" y="1072007"/>
                    <a:pt x="0" y="1051941"/>
                  </a:cubicBezTo>
                  <a:close/>
                </a:path>
              </a:pathLst>
            </a:custGeom>
            <a:solidFill>
              <a:srgbClr val="E5DFD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06810" y="3546276"/>
            <a:ext cx="544116" cy="544116"/>
            <a:chOff x="0" y="0"/>
            <a:chExt cx="725488" cy="72548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25551" cy="725551"/>
            </a:xfrm>
            <a:custGeom>
              <a:avLst/>
              <a:gdLst/>
              <a:ahLst/>
              <a:cxnLst/>
              <a:rect l="l" t="t" r="r" b="b"/>
              <a:pathLst>
                <a:path w="725551" h="725551">
                  <a:moveTo>
                    <a:pt x="0" y="362712"/>
                  </a:moveTo>
                  <a:cubicBezTo>
                    <a:pt x="0" y="162433"/>
                    <a:pt x="162433" y="0"/>
                    <a:pt x="362712" y="0"/>
                  </a:cubicBezTo>
                  <a:cubicBezTo>
                    <a:pt x="562991" y="0"/>
                    <a:pt x="725551" y="162433"/>
                    <a:pt x="725551" y="362712"/>
                  </a:cubicBezTo>
                  <a:cubicBezTo>
                    <a:pt x="725551" y="562991"/>
                    <a:pt x="563118" y="725551"/>
                    <a:pt x="362712" y="725551"/>
                  </a:cubicBezTo>
                  <a:cubicBezTo>
                    <a:pt x="162306" y="725551"/>
                    <a:pt x="0" y="563118"/>
                    <a:pt x="0" y="362712"/>
                  </a:cubicBezTo>
                  <a:close/>
                </a:path>
              </a:pathLst>
            </a:custGeom>
            <a:solidFill>
              <a:srgbClr val="E5DFD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9" name="Freeform 19" descr="preencoded.png"/>
          <p:cNvSpPr/>
          <p:nvPr/>
        </p:nvSpPr>
        <p:spPr>
          <a:xfrm>
            <a:off x="1042839" y="3682305"/>
            <a:ext cx="272057" cy="272058"/>
          </a:xfrm>
          <a:custGeom>
            <a:avLst/>
            <a:gdLst/>
            <a:ahLst/>
            <a:cxnLst/>
            <a:rect l="l" t="t" r="r" b="b"/>
            <a:pathLst>
              <a:path w="272057" h="272058">
                <a:moveTo>
                  <a:pt x="0" y="0"/>
                </a:moveTo>
                <a:lnTo>
                  <a:pt x="272057" y="0"/>
                </a:lnTo>
                <a:lnTo>
                  <a:pt x="272057" y="272057"/>
                </a:lnTo>
                <a:lnTo>
                  <a:pt x="0" y="2720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1724" b="-1724"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20" name="Group 20"/>
          <p:cNvGrpSpPr/>
          <p:nvPr/>
        </p:nvGrpSpPr>
        <p:grpSpPr>
          <a:xfrm>
            <a:off x="1360289" y="4934991"/>
            <a:ext cx="181273" cy="816174"/>
            <a:chOff x="0" y="0"/>
            <a:chExt cx="241697" cy="108823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1681" cy="1088263"/>
            </a:xfrm>
            <a:custGeom>
              <a:avLst/>
              <a:gdLst/>
              <a:ahLst/>
              <a:cxnLst/>
              <a:rect l="l" t="t" r="r" b="b"/>
              <a:pathLst>
                <a:path w="241681" h="1088263">
                  <a:moveTo>
                    <a:pt x="0" y="36322"/>
                  </a:moveTo>
                  <a:cubicBezTo>
                    <a:pt x="0" y="16256"/>
                    <a:pt x="16256" y="0"/>
                    <a:pt x="36322" y="0"/>
                  </a:cubicBezTo>
                  <a:lnTo>
                    <a:pt x="205359" y="0"/>
                  </a:lnTo>
                  <a:cubicBezTo>
                    <a:pt x="225425" y="0"/>
                    <a:pt x="241681" y="16256"/>
                    <a:pt x="241681" y="36322"/>
                  </a:cubicBezTo>
                  <a:lnTo>
                    <a:pt x="241681" y="1051941"/>
                  </a:lnTo>
                  <a:cubicBezTo>
                    <a:pt x="241681" y="1072007"/>
                    <a:pt x="225425" y="1088263"/>
                    <a:pt x="205359" y="1088263"/>
                  </a:cubicBezTo>
                  <a:lnTo>
                    <a:pt x="36322" y="1088263"/>
                  </a:lnTo>
                  <a:cubicBezTo>
                    <a:pt x="16256" y="1088263"/>
                    <a:pt x="0" y="1072007"/>
                    <a:pt x="0" y="1051941"/>
                  </a:cubicBezTo>
                  <a:close/>
                </a:path>
              </a:pathLst>
            </a:custGeom>
            <a:solidFill>
              <a:srgbClr val="E5DFD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78868" y="4815929"/>
            <a:ext cx="544116" cy="544116"/>
            <a:chOff x="0" y="0"/>
            <a:chExt cx="725488" cy="72548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25551" cy="725551"/>
            </a:xfrm>
            <a:custGeom>
              <a:avLst/>
              <a:gdLst/>
              <a:ahLst/>
              <a:cxnLst/>
              <a:rect l="l" t="t" r="r" b="b"/>
              <a:pathLst>
                <a:path w="725551" h="725551">
                  <a:moveTo>
                    <a:pt x="0" y="362712"/>
                  </a:moveTo>
                  <a:cubicBezTo>
                    <a:pt x="0" y="162433"/>
                    <a:pt x="162433" y="0"/>
                    <a:pt x="362712" y="0"/>
                  </a:cubicBezTo>
                  <a:cubicBezTo>
                    <a:pt x="562991" y="0"/>
                    <a:pt x="725551" y="162433"/>
                    <a:pt x="725551" y="362712"/>
                  </a:cubicBezTo>
                  <a:cubicBezTo>
                    <a:pt x="725551" y="562991"/>
                    <a:pt x="563118" y="725551"/>
                    <a:pt x="362712" y="725551"/>
                  </a:cubicBezTo>
                  <a:cubicBezTo>
                    <a:pt x="162306" y="725551"/>
                    <a:pt x="0" y="563118"/>
                    <a:pt x="0" y="362712"/>
                  </a:cubicBezTo>
                  <a:close/>
                </a:path>
              </a:pathLst>
            </a:custGeom>
            <a:solidFill>
              <a:srgbClr val="E5DFD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4" name="Freeform 24" descr="preencoded.png"/>
          <p:cNvSpPr/>
          <p:nvPr/>
        </p:nvSpPr>
        <p:spPr>
          <a:xfrm>
            <a:off x="1314896" y="4951959"/>
            <a:ext cx="272058" cy="272057"/>
          </a:xfrm>
          <a:custGeom>
            <a:avLst/>
            <a:gdLst/>
            <a:ahLst/>
            <a:cxnLst/>
            <a:rect l="l" t="t" r="r" b="b"/>
            <a:pathLst>
              <a:path w="272058" h="272057">
                <a:moveTo>
                  <a:pt x="0" y="0"/>
                </a:moveTo>
                <a:lnTo>
                  <a:pt x="272058" y="0"/>
                </a:lnTo>
                <a:lnTo>
                  <a:pt x="272058" y="272057"/>
                </a:lnTo>
                <a:lnTo>
                  <a:pt x="0" y="2720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15517" b="-15517"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25" name="Group 25"/>
          <p:cNvGrpSpPr/>
          <p:nvPr/>
        </p:nvGrpSpPr>
        <p:grpSpPr>
          <a:xfrm>
            <a:off x="1632347" y="6204645"/>
            <a:ext cx="181273" cy="816174"/>
            <a:chOff x="0" y="0"/>
            <a:chExt cx="241697" cy="108823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41681" cy="1088263"/>
            </a:xfrm>
            <a:custGeom>
              <a:avLst/>
              <a:gdLst/>
              <a:ahLst/>
              <a:cxnLst/>
              <a:rect l="l" t="t" r="r" b="b"/>
              <a:pathLst>
                <a:path w="241681" h="1088263">
                  <a:moveTo>
                    <a:pt x="0" y="36322"/>
                  </a:moveTo>
                  <a:cubicBezTo>
                    <a:pt x="0" y="16256"/>
                    <a:pt x="16256" y="0"/>
                    <a:pt x="36322" y="0"/>
                  </a:cubicBezTo>
                  <a:lnTo>
                    <a:pt x="205359" y="0"/>
                  </a:lnTo>
                  <a:cubicBezTo>
                    <a:pt x="225425" y="0"/>
                    <a:pt x="241681" y="16256"/>
                    <a:pt x="241681" y="36322"/>
                  </a:cubicBezTo>
                  <a:lnTo>
                    <a:pt x="241681" y="1051941"/>
                  </a:lnTo>
                  <a:cubicBezTo>
                    <a:pt x="241681" y="1072007"/>
                    <a:pt x="225425" y="1088263"/>
                    <a:pt x="205359" y="1088263"/>
                  </a:cubicBezTo>
                  <a:lnTo>
                    <a:pt x="36322" y="1088263"/>
                  </a:lnTo>
                  <a:cubicBezTo>
                    <a:pt x="16256" y="1088263"/>
                    <a:pt x="0" y="1072007"/>
                    <a:pt x="0" y="1051941"/>
                  </a:cubicBezTo>
                  <a:close/>
                </a:path>
              </a:pathLst>
            </a:custGeom>
            <a:solidFill>
              <a:srgbClr val="E5DFD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50925" y="6085582"/>
            <a:ext cx="544116" cy="544116"/>
            <a:chOff x="0" y="0"/>
            <a:chExt cx="725488" cy="72548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25551" cy="725551"/>
            </a:xfrm>
            <a:custGeom>
              <a:avLst/>
              <a:gdLst/>
              <a:ahLst/>
              <a:cxnLst/>
              <a:rect l="l" t="t" r="r" b="b"/>
              <a:pathLst>
                <a:path w="725551" h="725551">
                  <a:moveTo>
                    <a:pt x="0" y="362712"/>
                  </a:moveTo>
                  <a:cubicBezTo>
                    <a:pt x="0" y="162433"/>
                    <a:pt x="162433" y="0"/>
                    <a:pt x="362712" y="0"/>
                  </a:cubicBezTo>
                  <a:cubicBezTo>
                    <a:pt x="562991" y="0"/>
                    <a:pt x="725551" y="162433"/>
                    <a:pt x="725551" y="362712"/>
                  </a:cubicBezTo>
                  <a:cubicBezTo>
                    <a:pt x="725551" y="562991"/>
                    <a:pt x="563118" y="725551"/>
                    <a:pt x="362712" y="725551"/>
                  </a:cubicBezTo>
                  <a:cubicBezTo>
                    <a:pt x="162306" y="725551"/>
                    <a:pt x="0" y="563118"/>
                    <a:pt x="0" y="362712"/>
                  </a:cubicBezTo>
                  <a:close/>
                </a:path>
              </a:pathLst>
            </a:custGeom>
            <a:solidFill>
              <a:srgbClr val="E5DFD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9" name="Freeform 29" descr="preencoded.png"/>
          <p:cNvSpPr/>
          <p:nvPr/>
        </p:nvSpPr>
        <p:spPr>
          <a:xfrm>
            <a:off x="1586954" y="6221611"/>
            <a:ext cx="272058" cy="272057"/>
          </a:xfrm>
          <a:custGeom>
            <a:avLst/>
            <a:gdLst/>
            <a:ahLst/>
            <a:cxnLst/>
            <a:rect l="l" t="t" r="r" b="b"/>
            <a:pathLst>
              <a:path w="272058" h="272057">
                <a:moveTo>
                  <a:pt x="0" y="0"/>
                </a:moveTo>
                <a:lnTo>
                  <a:pt x="272057" y="0"/>
                </a:lnTo>
                <a:lnTo>
                  <a:pt x="272057" y="272058"/>
                </a:lnTo>
                <a:lnTo>
                  <a:pt x="0" y="2720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30" name="Group 30"/>
          <p:cNvGrpSpPr/>
          <p:nvPr/>
        </p:nvGrpSpPr>
        <p:grpSpPr>
          <a:xfrm>
            <a:off x="634752" y="7225010"/>
            <a:ext cx="4989611" cy="1335286"/>
            <a:chOff x="0" y="0"/>
            <a:chExt cx="6652815" cy="178038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652895" cy="1780413"/>
            </a:xfrm>
            <a:custGeom>
              <a:avLst/>
              <a:gdLst/>
              <a:ahLst/>
              <a:cxnLst/>
              <a:rect l="l" t="t" r="r" b="b"/>
              <a:pathLst>
                <a:path w="6652895" h="1780413">
                  <a:moveTo>
                    <a:pt x="0" y="36322"/>
                  </a:moveTo>
                  <a:cubicBezTo>
                    <a:pt x="0" y="16256"/>
                    <a:pt x="16256" y="0"/>
                    <a:pt x="36322" y="0"/>
                  </a:cubicBezTo>
                  <a:lnTo>
                    <a:pt x="6616573" y="0"/>
                  </a:lnTo>
                  <a:cubicBezTo>
                    <a:pt x="6636639" y="0"/>
                    <a:pt x="6652895" y="16256"/>
                    <a:pt x="6652895" y="36322"/>
                  </a:cubicBezTo>
                  <a:lnTo>
                    <a:pt x="6652895" y="1744091"/>
                  </a:lnTo>
                  <a:cubicBezTo>
                    <a:pt x="6652895" y="1764157"/>
                    <a:pt x="6636639" y="1780413"/>
                    <a:pt x="6616573" y="1780413"/>
                  </a:cubicBezTo>
                  <a:lnTo>
                    <a:pt x="36322" y="1780413"/>
                  </a:lnTo>
                  <a:cubicBezTo>
                    <a:pt x="16256" y="1780413"/>
                    <a:pt x="0" y="1764157"/>
                    <a:pt x="0" y="1744091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805636" y="7225010"/>
            <a:ext cx="4989611" cy="1335286"/>
            <a:chOff x="0" y="0"/>
            <a:chExt cx="6652815" cy="178038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652895" cy="1780413"/>
            </a:xfrm>
            <a:custGeom>
              <a:avLst/>
              <a:gdLst/>
              <a:ahLst/>
              <a:cxnLst/>
              <a:rect l="l" t="t" r="r" b="b"/>
              <a:pathLst>
                <a:path w="6652895" h="1780413">
                  <a:moveTo>
                    <a:pt x="0" y="36322"/>
                  </a:moveTo>
                  <a:cubicBezTo>
                    <a:pt x="0" y="16256"/>
                    <a:pt x="16256" y="0"/>
                    <a:pt x="36322" y="0"/>
                  </a:cubicBezTo>
                  <a:lnTo>
                    <a:pt x="6616573" y="0"/>
                  </a:lnTo>
                  <a:cubicBezTo>
                    <a:pt x="6636639" y="0"/>
                    <a:pt x="6652895" y="16256"/>
                    <a:pt x="6652895" y="36322"/>
                  </a:cubicBezTo>
                  <a:lnTo>
                    <a:pt x="6652895" y="1744091"/>
                  </a:lnTo>
                  <a:cubicBezTo>
                    <a:pt x="6652895" y="1764157"/>
                    <a:pt x="6636639" y="1780413"/>
                    <a:pt x="6616573" y="1780413"/>
                  </a:cubicBezTo>
                  <a:lnTo>
                    <a:pt x="36322" y="1780413"/>
                  </a:lnTo>
                  <a:cubicBezTo>
                    <a:pt x="16256" y="1780413"/>
                    <a:pt x="0" y="1764157"/>
                    <a:pt x="0" y="1744091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34752" y="8741569"/>
            <a:ext cx="10160496" cy="1045071"/>
            <a:chOff x="0" y="0"/>
            <a:chExt cx="13547328" cy="139342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3547344" cy="1393444"/>
            </a:xfrm>
            <a:custGeom>
              <a:avLst/>
              <a:gdLst/>
              <a:ahLst/>
              <a:cxnLst/>
              <a:rect l="l" t="t" r="r" b="b"/>
              <a:pathLst>
                <a:path w="13547344" h="1393444">
                  <a:moveTo>
                    <a:pt x="0" y="36322"/>
                  </a:moveTo>
                  <a:cubicBezTo>
                    <a:pt x="0" y="16256"/>
                    <a:pt x="16256" y="0"/>
                    <a:pt x="36322" y="0"/>
                  </a:cubicBezTo>
                  <a:lnTo>
                    <a:pt x="13511022" y="0"/>
                  </a:lnTo>
                  <a:cubicBezTo>
                    <a:pt x="13531087" y="0"/>
                    <a:pt x="13547344" y="16256"/>
                    <a:pt x="13547344" y="36322"/>
                  </a:cubicBezTo>
                  <a:lnTo>
                    <a:pt x="13547344" y="1357122"/>
                  </a:lnTo>
                  <a:cubicBezTo>
                    <a:pt x="13547344" y="1377188"/>
                    <a:pt x="13531087" y="1393444"/>
                    <a:pt x="13511022" y="1393444"/>
                  </a:cubicBezTo>
                  <a:lnTo>
                    <a:pt x="36322" y="1393444"/>
                  </a:lnTo>
                  <a:cubicBezTo>
                    <a:pt x="16256" y="1393444"/>
                    <a:pt x="0" y="1377188"/>
                    <a:pt x="0" y="1357122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634752" y="481310"/>
            <a:ext cx="9271248" cy="579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35"/>
              </a:lnSpc>
            </a:pPr>
            <a:r>
              <a:rPr lang="en-US" sz="3962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MongoDB Atlas: Your Cloud Database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34753" y="1253430"/>
            <a:ext cx="10160496" cy="711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1774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MongoDB Atlas</a:t>
            </a:r>
            <a:r>
              <a:rPr lang="en-US" sz="1774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is the fully managed cloud version of MongoDB, providing enterprise-grade database capabilities without the operational overhead.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60140" y="2421723"/>
            <a:ext cx="2830860" cy="318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49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Create Your Cluster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60140" y="2737835"/>
            <a:ext cx="9435108" cy="349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177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Set up a free-tier cluster in minutes with just a few clicks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32196" y="3691375"/>
            <a:ext cx="3473203" cy="318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49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Configure Database Users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32197" y="4007487"/>
            <a:ext cx="9163050" cy="349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177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Create secure credentials for your application to connect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904256" y="4977543"/>
            <a:ext cx="3048744" cy="318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49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Whitelist IP Addresses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904256" y="5327592"/>
            <a:ext cx="8890992" cy="349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1774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Configure network access to allow Render to connect securely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176314" y="6230682"/>
            <a:ext cx="2243286" cy="3161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49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Connect with URI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176314" y="6546792"/>
            <a:ext cx="8618935" cy="349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1774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Use the connection string to link your backend to Atlas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16025" y="7396757"/>
            <a:ext cx="2356187" cy="318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49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Free Tier Benefits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16025" y="7712869"/>
            <a:ext cx="4627066" cy="711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177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512 MB storage, shared RAM, perfect for learning and small projects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986908" y="7396757"/>
            <a:ext cx="2318891" cy="3161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49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Production Ready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986909" y="7712869"/>
            <a:ext cx="4627066" cy="711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177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Built-in security, automated backups, and monitoring capabilities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16024" y="8913316"/>
            <a:ext cx="2765375" cy="323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49" b="1" dirty="0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Global Deployment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16025" y="9229427"/>
            <a:ext cx="9797951" cy="349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177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Deploy across multiple cloud regions for optimal performance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97384" y="2665488"/>
            <a:ext cx="8479483" cy="949524"/>
            <a:chOff x="0" y="0"/>
            <a:chExt cx="11305977" cy="1266032"/>
          </a:xfrm>
        </p:grpSpPr>
        <p:sp>
          <p:nvSpPr>
            <p:cNvPr id="7" name="Freeform 7"/>
            <p:cNvSpPr/>
            <p:nvPr/>
          </p:nvSpPr>
          <p:spPr>
            <a:xfrm>
              <a:off x="12700" y="12700"/>
              <a:ext cx="11280522" cy="1240663"/>
            </a:xfrm>
            <a:custGeom>
              <a:avLst/>
              <a:gdLst/>
              <a:ahLst/>
              <a:cxnLst/>
              <a:rect l="l" t="t" r="r" b="b"/>
              <a:pathLst>
                <a:path w="11280522" h="1240663">
                  <a:moveTo>
                    <a:pt x="0" y="121920"/>
                  </a:moveTo>
                  <a:cubicBezTo>
                    <a:pt x="0" y="54610"/>
                    <a:pt x="55626" y="0"/>
                    <a:pt x="124079" y="0"/>
                  </a:cubicBezTo>
                  <a:lnTo>
                    <a:pt x="11156442" y="0"/>
                  </a:lnTo>
                  <a:cubicBezTo>
                    <a:pt x="11225023" y="0"/>
                    <a:pt x="11280522" y="54610"/>
                    <a:pt x="11280522" y="121920"/>
                  </a:cubicBezTo>
                  <a:lnTo>
                    <a:pt x="11280522" y="1118743"/>
                  </a:lnTo>
                  <a:cubicBezTo>
                    <a:pt x="11280522" y="1186053"/>
                    <a:pt x="11224895" y="1240663"/>
                    <a:pt x="11156442" y="1240663"/>
                  </a:cubicBezTo>
                  <a:lnTo>
                    <a:pt x="124079" y="1240663"/>
                  </a:lnTo>
                  <a:cubicBezTo>
                    <a:pt x="55499" y="1240663"/>
                    <a:pt x="0" y="1186053"/>
                    <a:pt x="0" y="1118743"/>
                  </a:cubicBez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1305922" cy="1266063"/>
            </a:xfrm>
            <a:custGeom>
              <a:avLst/>
              <a:gdLst/>
              <a:ahLst/>
              <a:cxnLst/>
              <a:rect l="l" t="t" r="r" b="b"/>
              <a:pathLst>
                <a:path w="11305922" h="1266063">
                  <a:moveTo>
                    <a:pt x="0" y="134620"/>
                  </a:moveTo>
                  <a:cubicBezTo>
                    <a:pt x="0" y="60071"/>
                    <a:pt x="61468" y="0"/>
                    <a:pt x="136779" y="0"/>
                  </a:cubicBezTo>
                  <a:lnTo>
                    <a:pt x="11169142" y="0"/>
                  </a:lnTo>
                  <a:lnTo>
                    <a:pt x="11169142" y="12700"/>
                  </a:lnTo>
                  <a:lnTo>
                    <a:pt x="11169142" y="0"/>
                  </a:lnTo>
                  <a:cubicBezTo>
                    <a:pt x="11244453" y="0"/>
                    <a:pt x="11305922" y="60071"/>
                    <a:pt x="11305922" y="134620"/>
                  </a:cubicBezTo>
                  <a:lnTo>
                    <a:pt x="11293222" y="134620"/>
                  </a:lnTo>
                  <a:lnTo>
                    <a:pt x="11305922" y="134620"/>
                  </a:lnTo>
                  <a:lnTo>
                    <a:pt x="11305922" y="1131443"/>
                  </a:lnTo>
                  <a:lnTo>
                    <a:pt x="11293222" y="1131443"/>
                  </a:lnTo>
                  <a:lnTo>
                    <a:pt x="11305922" y="1131443"/>
                  </a:lnTo>
                  <a:cubicBezTo>
                    <a:pt x="11305922" y="1205992"/>
                    <a:pt x="11244453" y="1266063"/>
                    <a:pt x="11169142" y="1266063"/>
                  </a:cubicBezTo>
                  <a:lnTo>
                    <a:pt x="11169142" y="1253363"/>
                  </a:lnTo>
                  <a:lnTo>
                    <a:pt x="11169142" y="1266063"/>
                  </a:lnTo>
                  <a:lnTo>
                    <a:pt x="136779" y="1266063"/>
                  </a:lnTo>
                  <a:lnTo>
                    <a:pt x="136779" y="1253363"/>
                  </a:lnTo>
                  <a:lnTo>
                    <a:pt x="136779" y="1266063"/>
                  </a:lnTo>
                  <a:cubicBezTo>
                    <a:pt x="61468" y="1266063"/>
                    <a:pt x="0" y="1205992"/>
                    <a:pt x="0" y="1131443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131443"/>
                  </a:lnTo>
                  <a:lnTo>
                    <a:pt x="12700" y="1131443"/>
                  </a:lnTo>
                  <a:lnTo>
                    <a:pt x="25400" y="1131443"/>
                  </a:lnTo>
                  <a:cubicBezTo>
                    <a:pt x="25400" y="1191514"/>
                    <a:pt x="75057" y="1240663"/>
                    <a:pt x="136779" y="1240663"/>
                  </a:cubicBezTo>
                  <a:lnTo>
                    <a:pt x="11169142" y="1240663"/>
                  </a:lnTo>
                  <a:cubicBezTo>
                    <a:pt x="11230864" y="1240663"/>
                    <a:pt x="11280522" y="1191514"/>
                    <a:pt x="11280522" y="1131443"/>
                  </a:cubicBezTo>
                  <a:lnTo>
                    <a:pt x="11280522" y="134620"/>
                  </a:lnTo>
                  <a:cubicBezTo>
                    <a:pt x="11280522" y="74549"/>
                    <a:pt x="11230864" y="25400"/>
                    <a:pt x="11169142" y="25400"/>
                  </a:cubicBezTo>
                  <a:lnTo>
                    <a:pt x="136779" y="25400"/>
                  </a:lnTo>
                  <a:lnTo>
                    <a:pt x="136779" y="12700"/>
                  </a:lnTo>
                  <a:lnTo>
                    <a:pt x="136779" y="25400"/>
                  </a:lnTo>
                  <a:cubicBezTo>
                    <a:pt x="75057" y="25400"/>
                    <a:pt x="25400" y="74549"/>
                    <a:pt x="25400" y="134620"/>
                  </a:cubicBezTo>
                  <a:close/>
                </a:path>
              </a:pathLst>
            </a:custGeom>
            <a:solidFill>
              <a:srgbClr val="CBC5B8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87859" y="2675013"/>
            <a:ext cx="76200" cy="930474"/>
            <a:chOff x="0" y="0"/>
            <a:chExt cx="101600" cy="12406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1600" cy="1240663"/>
            </a:xfrm>
            <a:custGeom>
              <a:avLst/>
              <a:gdLst/>
              <a:ahLst/>
              <a:cxnLst/>
              <a:rect l="l" t="t" r="r" b="b"/>
              <a:pathLst>
                <a:path w="101600" h="1240663">
                  <a:moveTo>
                    <a:pt x="0" y="28956"/>
                  </a:moveTo>
                  <a:cubicBezTo>
                    <a:pt x="0" y="12954"/>
                    <a:pt x="12954" y="0"/>
                    <a:pt x="28956" y="0"/>
                  </a:cubicBezTo>
                  <a:lnTo>
                    <a:pt x="72644" y="0"/>
                  </a:lnTo>
                  <a:cubicBezTo>
                    <a:pt x="88646" y="0"/>
                    <a:pt x="101600" y="12954"/>
                    <a:pt x="101600" y="28956"/>
                  </a:cubicBezTo>
                  <a:lnTo>
                    <a:pt x="101600" y="1211707"/>
                  </a:lnTo>
                  <a:cubicBezTo>
                    <a:pt x="101600" y="1227709"/>
                    <a:pt x="88646" y="1240663"/>
                    <a:pt x="72644" y="1240663"/>
                  </a:cubicBezTo>
                  <a:lnTo>
                    <a:pt x="28956" y="1240663"/>
                  </a:lnTo>
                  <a:cubicBezTo>
                    <a:pt x="12954" y="1240663"/>
                    <a:pt x="0" y="1227709"/>
                    <a:pt x="0" y="1211707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27919" y="3124325"/>
            <a:ext cx="8416081" cy="36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1824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Define the structure of your documents with clear field types and requirements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97384" y="3740772"/>
            <a:ext cx="8479483" cy="949524"/>
            <a:chOff x="0" y="0"/>
            <a:chExt cx="11305977" cy="1266032"/>
          </a:xfrm>
        </p:grpSpPr>
        <p:sp>
          <p:nvSpPr>
            <p:cNvPr id="13" name="Freeform 13"/>
            <p:cNvSpPr/>
            <p:nvPr/>
          </p:nvSpPr>
          <p:spPr>
            <a:xfrm>
              <a:off x="12700" y="12700"/>
              <a:ext cx="11280522" cy="1240663"/>
            </a:xfrm>
            <a:custGeom>
              <a:avLst/>
              <a:gdLst/>
              <a:ahLst/>
              <a:cxnLst/>
              <a:rect l="l" t="t" r="r" b="b"/>
              <a:pathLst>
                <a:path w="11280522" h="1240663">
                  <a:moveTo>
                    <a:pt x="0" y="121920"/>
                  </a:moveTo>
                  <a:cubicBezTo>
                    <a:pt x="0" y="54610"/>
                    <a:pt x="55626" y="0"/>
                    <a:pt x="124079" y="0"/>
                  </a:cubicBezTo>
                  <a:lnTo>
                    <a:pt x="11156442" y="0"/>
                  </a:lnTo>
                  <a:cubicBezTo>
                    <a:pt x="11225023" y="0"/>
                    <a:pt x="11280522" y="54610"/>
                    <a:pt x="11280522" y="121920"/>
                  </a:cubicBezTo>
                  <a:lnTo>
                    <a:pt x="11280522" y="1118743"/>
                  </a:lnTo>
                  <a:cubicBezTo>
                    <a:pt x="11280522" y="1186053"/>
                    <a:pt x="11224895" y="1240663"/>
                    <a:pt x="11156442" y="1240663"/>
                  </a:cubicBezTo>
                  <a:lnTo>
                    <a:pt x="124079" y="1240663"/>
                  </a:lnTo>
                  <a:cubicBezTo>
                    <a:pt x="55499" y="1240663"/>
                    <a:pt x="0" y="1186053"/>
                    <a:pt x="0" y="1118743"/>
                  </a:cubicBez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11305922" cy="1266063"/>
            </a:xfrm>
            <a:custGeom>
              <a:avLst/>
              <a:gdLst/>
              <a:ahLst/>
              <a:cxnLst/>
              <a:rect l="l" t="t" r="r" b="b"/>
              <a:pathLst>
                <a:path w="11305922" h="1266063">
                  <a:moveTo>
                    <a:pt x="0" y="134620"/>
                  </a:moveTo>
                  <a:cubicBezTo>
                    <a:pt x="0" y="60071"/>
                    <a:pt x="61468" y="0"/>
                    <a:pt x="136779" y="0"/>
                  </a:cubicBezTo>
                  <a:lnTo>
                    <a:pt x="11169142" y="0"/>
                  </a:lnTo>
                  <a:lnTo>
                    <a:pt x="11169142" y="12700"/>
                  </a:lnTo>
                  <a:lnTo>
                    <a:pt x="11169142" y="0"/>
                  </a:lnTo>
                  <a:cubicBezTo>
                    <a:pt x="11244453" y="0"/>
                    <a:pt x="11305922" y="60071"/>
                    <a:pt x="11305922" y="134620"/>
                  </a:cubicBezTo>
                  <a:lnTo>
                    <a:pt x="11293222" y="134620"/>
                  </a:lnTo>
                  <a:lnTo>
                    <a:pt x="11305922" y="134620"/>
                  </a:lnTo>
                  <a:lnTo>
                    <a:pt x="11305922" y="1131443"/>
                  </a:lnTo>
                  <a:lnTo>
                    <a:pt x="11293222" y="1131443"/>
                  </a:lnTo>
                  <a:lnTo>
                    <a:pt x="11305922" y="1131443"/>
                  </a:lnTo>
                  <a:cubicBezTo>
                    <a:pt x="11305922" y="1205992"/>
                    <a:pt x="11244453" y="1266063"/>
                    <a:pt x="11169142" y="1266063"/>
                  </a:cubicBezTo>
                  <a:lnTo>
                    <a:pt x="11169142" y="1253363"/>
                  </a:lnTo>
                  <a:lnTo>
                    <a:pt x="11169142" y="1266063"/>
                  </a:lnTo>
                  <a:lnTo>
                    <a:pt x="136779" y="1266063"/>
                  </a:lnTo>
                  <a:lnTo>
                    <a:pt x="136779" y="1253363"/>
                  </a:lnTo>
                  <a:lnTo>
                    <a:pt x="136779" y="1266063"/>
                  </a:lnTo>
                  <a:cubicBezTo>
                    <a:pt x="61468" y="1266063"/>
                    <a:pt x="0" y="1205992"/>
                    <a:pt x="0" y="1131443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131443"/>
                  </a:lnTo>
                  <a:lnTo>
                    <a:pt x="12700" y="1131443"/>
                  </a:lnTo>
                  <a:lnTo>
                    <a:pt x="25400" y="1131443"/>
                  </a:lnTo>
                  <a:cubicBezTo>
                    <a:pt x="25400" y="1191514"/>
                    <a:pt x="75057" y="1240663"/>
                    <a:pt x="136779" y="1240663"/>
                  </a:cubicBezTo>
                  <a:lnTo>
                    <a:pt x="11169142" y="1240663"/>
                  </a:lnTo>
                  <a:cubicBezTo>
                    <a:pt x="11230864" y="1240663"/>
                    <a:pt x="11280522" y="1191514"/>
                    <a:pt x="11280522" y="1131443"/>
                  </a:cubicBezTo>
                  <a:lnTo>
                    <a:pt x="11280522" y="134620"/>
                  </a:lnTo>
                  <a:cubicBezTo>
                    <a:pt x="11280522" y="74549"/>
                    <a:pt x="11230864" y="25400"/>
                    <a:pt x="11169142" y="25400"/>
                  </a:cubicBezTo>
                  <a:lnTo>
                    <a:pt x="136779" y="25400"/>
                  </a:lnTo>
                  <a:lnTo>
                    <a:pt x="136779" y="12700"/>
                  </a:lnTo>
                  <a:lnTo>
                    <a:pt x="136779" y="25400"/>
                  </a:lnTo>
                  <a:cubicBezTo>
                    <a:pt x="75057" y="25400"/>
                    <a:pt x="25400" y="74549"/>
                    <a:pt x="25400" y="134620"/>
                  </a:cubicBezTo>
                  <a:close/>
                </a:path>
              </a:pathLst>
            </a:custGeom>
            <a:solidFill>
              <a:srgbClr val="CBC5B8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87859" y="3750297"/>
            <a:ext cx="76200" cy="930474"/>
            <a:chOff x="0" y="0"/>
            <a:chExt cx="101600" cy="12406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1600" cy="1240663"/>
            </a:xfrm>
            <a:custGeom>
              <a:avLst/>
              <a:gdLst/>
              <a:ahLst/>
              <a:cxnLst/>
              <a:rect l="l" t="t" r="r" b="b"/>
              <a:pathLst>
                <a:path w="101600" h="1240663">
                  <a:moveTo>
                    <a:pt x="0" y="28956"/>
                  </a:moveTo>
                  <a:cubicBezTo>
                    <a:pt x="0" y="12954"/>
                    <a:pt x="12954" y="0"/>
                    <a:pt x="28956" y="0"/>
                  </a:cubicBezTo>
                  <a:lnTo>
                    <a:pt x="72644" y="0"/>
                  </a:lnTo>
                  <a:cubicBezTo>
                    <a:pt x="88646" y="0"/>
                    <a:pt x="101600" y="12954"/>
                    <a:pt x="101600" y="28956"/>
                  </a:cubicBezTo>
                  <a:lnTo>
                    <a:pt x="101600" y="1211707"/>
                  </a:lnTo>
                  <a:cubicBezTo>
                    <a:pt x="101600" y="1227709"/>
                    <a:pt x="88646" y="1240663"/>
                    <a:pt x="72644" y="1240663"/>
                  </a:cubicBezTo>
                  <a:lnTo>
                    <a:pt x="28956" y="1240663"/>
                  </a:lnTo>
                  <a:cubicBezTo>
                    <a:pt x="12954" y="1240663"/>
                    <a:pt x="0" y="1227709"/>
                    <a:pt x="0" y="1211707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97384" y="4816054"/>
            <a:ext cx="8479483" cy="949524"/>
            <a:chOff x="0" y="0"/>
            <a:chExt cx="11305977" cy="1266032"/>
          </a:xfrm>
        </p:grpSpPr>
        <p:sp>
          <p:nvSpPr>
            <p:cNvPr id="18" name="Freeform 18"/>
            <p:cNvSpPr/>
            <p:nvPr/>
          </p:nvSpPr>
          <p:spPr>
            <a:xfrm>
              <a:off x="12700" y="12700"/>
              <a:ext cx="11280522" cy="1240663"/>
            </a:xfrm>
            <a:custGeom>
              <a:avLst/>
              <a:gdLst/>
              <a:ahLst/>
              <a:cxnLst/>
              <a:rect l="l" t="t" r="r" b="b"/>
              <a:pathLst>
                <a:path w="11280522" h="1240663">
                  <a:moveTo>
                    <a:pt x="0" y="121920"/>
                  </a:moveTo>
                  <a:cubicBezTo>
                    <a:pt x="0" y="54610"/>
                    <a:pt x="55626" y="0"/>
                    <a:pt x="124079" y="0"/>
                  </a:cubicBezTo>
                  <a:lnTo>
                    <a:pt x="11156442" y="0"/>
                  </a:lnTo>
                  <a:cubicBezTo>
                    <a:pt x="11225023" y="0"/>
                    <a:pt x="11280522" y="54610"/>
                    <a:pt x="11280522" y="121920"/>
                  </a:cubicBezTo>
                  <a:lnTo>
                    <a:pt x="11280522" y="1118743"/>
                  </a:lnTo>
                  <a:cubicBezTo>
                    <a:pt x="11280522" y="1186053"/>
                    <a:pt x="11224895" y="1240663"/>
                    <a:pt x="11156442" y="1240663"/>
                  </a:cubicBezTo>
                  <a:lnTo>
                    <a:pt x="124079" y="1240663"/>
                  </a:lnTo>
                  <a:cubicBezTo>
                    <a:pt x="55499" y="1240663"/>
                    <a:pt x="0" y="1186053"/>
                    <a:pt x="0" y="1118743"/>
                  </a:cubicBez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11305922" cy="1266063"/>
            </a:xfrm>
            <a:custGeom>
              <a:avLst/>
              <a:gdLst/>
              <a:ahLst/>
              <a:cxnLst/>
              <a:rect l="l" t="t" r="r" b="b"/>
              <a:pathLst>
                <a:path w="11305922" h="1266063">
                  <a:moveTo>
                    <a:pt x="0" y="134620"/>
                  </a:moveTo>
                  <a:cubicBezTo>
                    <a:pt x="0" y="60071"/>
                    <a:pt x="61468" y="0"/>
                    <a:pt x="136779" y="0"/>
                  </a:cubicBezTo>
                  <a:lnTo>
                    <a:pt x="11169142" y="0"/>
                  </a:lnTo>
                  <a:lnTo>
                    <a:pt x="11169142" y="12700"/>
                  </a:lnTo>
                  <a:lnTo>
                    <a:pt x="11169142" y="0"/>
                  </a:lnTo>
                  <a:cubicBezTo>
                    <a:pt x="11244453" y="0"/>
                    <a:pt x="11305922" y="60071"/>
                    <a:pt x="11305922" y="134620"/>
                  </a:cubicBezTo>
                  <a:lnTo>
                    <a:pt x="11293222" y="134620"/>
                  </a:lnTo>
                  <a:lnTo>
                    <a:pt x="11305922" y="134620"/>
                  </a:lnTo>
                  <a:lnTo>
                    <a:pt x="11305922" y="1131443"/>
                  </a:lnTo>
                  <a:lnTo>
                    <a:pt x="11293222" y="1131443"/>
                  </a:lnTo>
                  <a:lnTo>
                    <a:pt x="11305922" y="1131443"/>
                  </a:lnTo>
                  <a:cubicBezTo>
                    <a:pt x="11305922" y="1205992"/>
                    <a:pt x="11244453" y="1266063"/>
                    <a:pt x="11169142" y="1266063"/>
                  </a:cubicBezTo>
                  <a:lnTo>
                    <a:pt x="11169142" y="1253363"/>
                  </a:lnTo>
                  <a:lnTo>
                    <a:pt x="11169142" y="1266063"/>
                  </a:lnTo>
                  <a:lnTo>
                    <a:pt x="136779" y="1266063"/>
                  </a:lnTo>
                  <a:lnTo>
                    <a:pt x="136779" y="1253363"/>
                  </a:lnTo>
                  <a:lnTo>
                    <a:pt x="136779" y="1266063"/>
                  </a:lnTo>
                  <a:cubicBezTo>
                    <a:pt x="61468" y="1266063"/>
                    <a:pt x="0" y="1205992"/>
                    <a:pt x="0" y="1131443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131443"/>
                  </a:lnTo>
                  <a:lnTo>
                    <a:pt x="12700" y="1131443"/>
                  </a:lnTo>
                  <a:lnTo>
                    <a:pt x="25400" y="1131443"/>
                  </a:lnTo>
                  <a:cubicBezTo>
                    <a:pt x="25400" y="1191514"/>
                    <a:pt x="75057" y="1240663"/>
                    <a:pt x="136779" y="1240663"/>
                  </a:cubicBezTo>
                  <a:lnTo>
                    <a:pt x="11169142" y="1240663"/>
                  </a:lnTo>
                  <a:cubicBezTo>
                    <a:pt x="11230864" y="1240663"/>
                    <a:pt x="11280522" y="1191514"/>
                    <a:pt x="11280522" y="1131443"/>
                  </a:cubicBezTo>
                  <a:lnTo>
                    <a:pt x="11280522" y="134620"/>
                  </a:lnTo>
                  <a:cubicBezTo>
                    <a:pt x="11280522" y="74549"/>
                    <a:pt x="11230864" y="25400"/>
                    <a:pt x="11169142" y="25400"/>
                  </a:cubicBezTo>
                  <a:lnTo>
                    <a:pt x="136779" y="25400"/>
                  </a:lnTo>
                  <a:lnTo>
                    <a:pt x="136779" y="12700"/>
                  </a:lnTo>
                  <a:lnTo>
                    <a:pt x="136779" y="25400"/>
                  </a:lnTo>
                  <a:cubicBezTo>
                    <a:pt x="75057" y="25400"/>
                    <a:pt x="25400" y="74549"/>
                    <a:pt x="25400" y="134620"/>
                  </a:cubicBezTo>
                  <a:close/>
                </a:path>
              </a:pathLst>
            </a:custGeom>
            <a:solidFill>
              <a:srgbClr val="CBC5B8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87859" y="4825579"/>
            <a:ext cx="76200" cy="930474"/>
            <a:chOff x="0" y="0"/>
            <a:chExt cx="101600" cy="124063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1600" cy="1240663"/>
            </a:xfrm>
            <a:custGeom>
              <a:avLst/>
              <a:gdLst/>
              <a:ahLst/>
              <a:cxnLst/>
              <a:rect l="l" t="t" r="r" b="b"/>
              <a:pathLst>
                <a:path w="101600" h="1240663">
                  <a:moveTo>
                    <a:pt x="0" y="28956"/>
                  </a:moveTo>
                  <a:cubicBezTo>
                    <a:pt x="0" y="12954"/>
                    <a:pt x="12954" y="0"/>
                    <a:pt x="28956" y="0"/>
                  </a:cubicBezTo>
                  <a:lnTo>
                    <a:pt x="72644" y="0"/>
                  </a:lnTo>
                  <a:cubicBezTo>
                    <a:pt x="88646" y="0"/>
                    <a:pt x="101600" y="12954"/>
                    <a:pt x="101600" y="28956"/>
                  </a:cubicBezTo>
                  <a:lnTo>
                    <a:pt x="101600" y="1211707"/>
                  </a:lnTo>
                  <a:cubicBezTo>
                    <a:pt x="101600" y="1227709"/>
                    <a:pt x="88646" y="1240663"/>
                    <a:pt x="72644" y="1240663"/>
                  </a:cubicBezTo>
                  <a:lnTo>
                    <a:pt x="28956" y="1240663"/>
                  </a:lnTo>
                  <a:cubicBezTo>
                    <a:pt x="12954" y="1240663"/>
                    <a:pt x="0" y="1227709"/>
                    <a:pt x="0" y="1211707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7384" y="5891338"/>
            <a:ext cx="8479483" cy="949524"/>
            <a:chOff x="0" y="0"/>
            <a:chExt cx="11305977" cy="1266032"/>
          </a:xfrm>
        </p:grpSpPr>
        <p:sp>
          <p:nvSpPr>
            <p:cNvPr id="23" name="Freeform 23"/>
            <p:cNvSpPr/>
            <p:nvPr/>
          </p:nvSpPr>
          <p:spPr>
            <a:xfrm>
              <a:off x="12700" y="12700"/>
              <a:ext cx="11280522" cy="1240663"/>
            </a:xfrm>
            <a:custGeom>
              <a:avLst/>
              <a:gdLst/>
              <a:ahLst/>
              <a:cxnLst/>
              <a:rect l="l" t="t" r="r" b="b"/>
              <a:pathLst>
                <a:path w="11280522" h="1240663">
                  <a:moveTo>
                    <a:pt x="0" y="121920"/>
                  </a:moveTo>
                  <a:cubicBezTo>
                    <a:pt x="0" y="54610"/>
                    <a:pt x="55626" y="0"/>
                    <a:pt x="124079" y="0"/>
                  </a:cubicBezTo>
                  <a:lnTo>
                    <a:pt x="11156442" y="0"/>
                  </a:lnTo>
                  <a:cubicBezTo>
                    <a:pt x="11225023" y="0"/>
                    <a:pt x="11280522" y="54610"/>
                    <a:pt x="11280522" y="121920"/>
                  </a:cubicBezTo>
                  <a:lnTo>
                    <a:pt x="11280522" y="1118743"/>
                  </a:lnTo>
                  <a:cubicBezTo>
                    <a:pt x="11280522" y="1186053"/>
                    <a:pt x="11224895" y="1240663"/>
                    <a:pt x="11156442" y="1240663"/>
                  </a:cubicBezTo>
                  <a:lnTo>
                    <a:pt x="124079" y="1240663"/>
                  </a:lnTo>
                  <a:cubicBezTo>
                    <a:pt x="55499" y="1240663"/>
                    <a:pt x="0" y="1186053"/>
                    <a:pt x="0" y="1118743"/>
                  </a:cubicBez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0" y="0"/>
              <a:ext cx="11305922" cy="1266063"/>
            </a:xfrm>
            <a:custGeom>
              <a:avLst/>
              <a:gdLst/>
              <a:ahLst/>
              <a:cxnLst/>
              <a:rect l="l" t="t" r="r" b="b"/>
              <a:pathLst>
                <a:path w="11305922" h="1266063">
                  <a:moveTo>
                    <a:pt x="0" y="134620"/>
                  </a:moveTo>
                  <a:cubicBezTo>
                    <a:pt x="0" y="60071"/>
                    <a:pt x="61468" y="0"/>
                    <a:pt x="136779" y="0"/>
                  </a:cubicBezTo>
                  <a:lnTo>
                    <a:pt x="11169142" y="0"/>
                  </a:lnTo>
                  <a:lnTo>
                    <a:pt x="11169142" y="12700"/>
                  </a:lnTo>
                  <a:lnTo>
                    <a:pt x="11169142" y="0"/>
                  </a:lnTo>
                  <a:cubicBezTo>
                    <a:pt x="11244453" y="0"/>
                    <a:pt x="11305922" y="60071"/>
                    <a:pt x="11305922" y="134620"/>
                  </a:cubicBezTo>
                  <a:lnTo>
                    <a:pt x="11293222" y="134620"/>
                  </a:lnTo>
                  <a:lnTo>
                    <a:pt x="11305922" y="134620"/>
                  </a:lnTo>
                  <a:lnTo>
                    <a:pt x="11305922" y="1131443"/>
                  </a:lnTo>
                  <a:lnTo>
                    <a:pt x="11293222" y="1131443"/>
                  </a:lnTo>
                  <a:lnTo>
                    <a:pt x="11305922" y="1131443"/>
                  </a:lnTo>
                  <a:cubicBezTo>
                    <a:pt x="11305922" y="1205992"/>
                    <a:pt x="11244453" y="1266063"/>
                    <a:pt x="11169142" y="1266063"/>
                  </a:cubicBezTo>
                  <a:lnTo>
                    <a:pt x="11169142" y="1253363"/>
                  </a:lnTo>
                  <a:lnTo>
                    <a:pt x="11169142" y="1266063"/>
                  </a:lnTo>
                  <a:lnTo>
                    <a:pt x="136779" y="1266063"/>
                  </a:lnTo>
                  <a:lnTo>
                    <a:pt x="136779" y="1253363"/>
                  </a:lnTo>
                  <a:lnTo>
                    <a:pt x="136779" y="1266063"/>
                  </a:lnTo>
                  <a:cubicBezTo>
                    <a:pt x="61468" y="1266063"/>
                    <a:pt x="0" y="1205992"/>
                    <a:pt x="0" y="1131443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131443"/>
                  </a:lnTo>
                  <a:lnTo>
                    <a:pt x="12700" y="1131443"/>
                  </a:lnTo>
                  <a:lnTo>
                    <a:pt x="25400" y="1131443"/>
                  </a:lnTo>
                  <a:cubicBezTo>
                    <a:pt x="25400" y="1191514"/>
                    <a:pt x="75057" y="1240663"/>
                    <a:pt x="136779" y="1240663"/>
                  </a:cubicBezTo>
                  <a:lnTo>
                    <a:pt x="11169142" y="1240663"/>
                  </a:lnTo>
                  <a:cubicBezTo>
                    <a:pt x="11230864" y="1240663"/>
                    <a:pt x="11280522" y="1191514"/>
                    <a:pt x="11280522" y="1131443"/>
                  </a:cubicBezTo>
                  <a:lnTo>
                    <a:pt x="11280522" y="134620"/>
                  </a:lnTo>
                  <a:cubicBezTo>
                    <a:pt x="11280522" y="74549"/>
                    <a:pt x="11230864" y="25400"/>
                    <a:pt x="11169142" y="25400"/>
                  </a:cubicBezTo>
                  <a:lnTo>
                    <a:pt x="136779" y="25400"/>
                  </a:lnTo>
                  <a:lnTo>
                    <a:pt x="136779" y="12700"/>
                  </a:lnTo>
                  <a:lnTo>
                    <a:pt x="136779" y="25400"/>
                  </a:lnTo>
                  <a:cubicBezTo>
                    <a:pt x="75057" y="25400"/>
                    <a:pt x="25400" y="74549"/>
                    <a:pt x="25400" y="134620"/>
                  </a:cubicBezTo>
                  <a:close/>
                </a:path>
              </a:pathLst>
            </a:custGeom>
            <a:solidFill>
              <a:srgbClr val="CBC5B8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87859" y="5900863"/>
            <a:ext cx="76200" cy="930474"/>
            <a:chOff x="0" y="0"/>
            <a:chExt cx="101600" cy="124063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1600" cy="1240663"/>
            </a:xfrm>
            <a:custGeom>
              <a:avLst/>
              <a:gdLst/>
              <a:ahLst/>
              <a:cxnLst/>
              <a:rect l="l" t="t" r="r" b="b"/>
              <a:pathLst>
                <a:path w="101600" h="1240663">
                  <a:moveTo>
                    <a:pt x="0" y="28956"/>
                  </a:moveTo>
                  <a:cubicBezTo>
                    <a:pt x="0" y="12954"/>
                    <a:pt x="12954" y="0"/>
                    <a:pt x="28956" y="0"/>
                  </a:cubicBezTo>
                  <a:lnTo>
                    <a:pt x="72644" y="0"/>
                  </a:lnTo>
                  <a:cubicBezTo>
                    <a:pt x="88646" y="0"/>
                    <a:pt x="101600" y="12954"/>
                    <a:pt x="101600" y="28956"/>
                  </a:cubicBezTo>
                  <a:lnTo>
                    <a:pt x="101600" y="1211707"/>
                  </a:lnTo>
                  <a:cubicBezTo>
                    <a:pt x="101600" y="1227709"/>
                    <a:pt x="88646" y="1240663"/>
                    <a:pt x="72644" y="1240663"/>
                  </a:cubicBezTo>
                  <a:lnTo>
                    <a:pt x="28956" y="1240663"/>
                  </a:lnTo>
                  <a:cubicBezTo>
                    <a:pt x="12954" y="1240663"/>
                    <a:pt x="0" y="1227709"/>
                    <a:pt x="0" y="1211707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9330184" y="1231106"/>
            <a:ext cx="8460432" cy="7912894"/>
            <a:chOff x="0" y="0"/>
            <a:chExt cx="11280577" cy="1055052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280521" cy="10550525"/>
            </a:xfrm>
            <a:custGeom>
              <a:avLst/>
              <a:gdLst/>
              <a:ahLst/>
              <a:cxnLst/>
              <a:rect l="l" t="t" r="r" b="b"/>
              <a:pathLst>
                <a:path w="11280521" h="10550525">
                  <a:moveTo>
                    <a:pt x="0" y="0"/>
                  </a:moveTo>
                  <a:lnTo>
                    <a:pt x="11280521" y="0"/>
                  </a:lnTo>
                  <a:lnTo>
                    <a:pt x="11280521" y="10550525"/>
                  </a:lnTo>
                  <a:lnTo>
                    <a:pt x="0" y="10550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459" b="-3459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506909" y="369689"/>
            <a:ext cx="8292405" cy="579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5"/>
              </a:lnSpc>
            </a:pPr>
            <a:r>
              <a:rPr lang="en-US" sz="361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Mongoose: Your Data Modelling Partner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7859" y="1019806"/>
            <a:ext cx="8460432" cy="120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02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Mongoose is an </a:t>
            </a:r>
            <a:r>
              <a:rPr lang="en-US" sz="2024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ODM (Object Data Modelling)</a:t>
            </a:r>
            <a:r>
              <a:rPr lang="en-US" sz="202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library that bridges MongoDB and Node.js, providing structure and validation to your database operations.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06909" y="2266629"/>
            <a:ext cx="2741563" cy="34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8"/>
              </a:lnSpc>
            </a:pPr>
            <a:r>
              <a:rPr lang="en-US" sz="2174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How Mongoose Helps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27919" y="2819823"/>
            <a:ext cx="1558081" cy="32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68"/>
              </a:lnSpc>
            </a:pPr>
            <a:r>
              <a:rPr lang="en-US" sz="2174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Schemas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27918" y="3895107"/>
            <a:ext cx="1710481" cy="32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68"/>
              </a:lnSpc>
            </a:pPr>
            <a:r>
              <a:rPr lang="en-US" sz="2174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Validation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27919" y="4199608"/>
            <a:ext cx="8075562" cy="37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192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Built-in validators ensure data integrity before saving to the database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27919" y="4970389"/>
            <a:ext cx="2929681" cy="32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68"/>
              </a:lnSpc>
            </a:pPr>
            <a:r>
              <a:rPr lang="en-US" sz="2174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Query Simplification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27919" y="5274892"/>
            <a:ext cx="8075562" cy="37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192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Intuitive methods for creating, reading, updating, and deleting documents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27918" y="6045674"/>
            <a:ext cx="2777281" cy="32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68"/>
              </a:lnSpc>
            </a:pPr>
            <a:r>
              <a:rPr lang="en-US" sz="2174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Beginner-Friendly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27919" y="6350175"/>
            <a:ext cx="8075562" cy="37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1924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Clear error messages and straightforward syntax make learning easier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58985" y="7228434"/>
            <a:ext cx="3503415" cy="3286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68"/>
              </a:lnSpc>
            </a:pPr>
            <a:r>
              <a:rPr lang="en-US" sz="2174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Our Transaction Model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8985" y="7522666"/>
            <a:ext cx="8185100" cy="158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1924">
                <a:solidFill>
                  <a:srgbClr val="4A4A45"/>
                </a:solidFill>
                <a:latin typeface="Consolas"/>
                <a:ea typeface="Consolas"/>
                <a:cs typeface="Consolas"/>
                <a:sym typeface="Consolas"/>
              </a:rPr>
              <a:t>const transactionSchema = new Schema({ payer: { type: String, required: true }, payee: { type: String, required: true }, amount: { type: Number, required: true }, status: {  type: String,  enum: ['pending', 'completed']  }});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93551" y="595610"/>
            <a:ext cx="12007453" cy="748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8"/>
              </a:lnSpc>
            </a:pPr>
            <a:r>
              <a:rPr lang="en-US" sz="473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Building the Backend with Node.js &amp; Express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3551" y="1538620"/>
            <a:ext cx="16700897" cy="78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0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Our backend serves as the </a:t>
            </a:r>
            <a:r>
              <a:rPr lang="en-US" sz="2049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intelligent bridge</a:t>
            </a:r>
            <a:r>
              <a:rPr lang="en-US" sz="20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between the Angular frontend and MongoDB database, handling all business logic, validation, and data operations.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93551" y="2404170"/>
            <a:ext cx="8350449" cy="906959"/>
            <a:chOff x="0" y="0"/>
            <a:chExt cx="11133932" cy="1209278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1133963" cy="1209294"/>
            </a:xfrm>
            <a:custGeom>
              <a:avLst/>
              <a:gdLst/>
              <a:ahLst/>
              <a:cxnLst/>
              <a:rect l="l" t="t" r="r" b="b"/>
              <a:pathLst>
                <a:path w="11133963" h="1209294">
                  <a:moveTo>
                    <a:pt x="0" y="0"/>
                  </a:moveTo>
                  <a:lnTo>
                    <a:pt x="11133963" y="0"/>
                  </a:lnTo>
                  <a:lnTo>
                    <a:pt x="11133963" y="1209294"/>
                  </a:lnTo>
                  <a:lnTo>
                    <a:pt x="0" y="1209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3" r="-132" b="1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0216" y="3518744"/>
            <a:ext cx="2190304" cy="366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487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API Routes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0216" y="3951982"/>
            <a:ext cx="7897117" cy="37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0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RESTful endpoints for GET, POST, PUT, and DELETE operations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144000" y="2404170"/>
            <a:ext cx="8350449" cy="906959"/>
            <a:chOff x="0" y="0"/>
            <a:chExt cx="11133932" cy="1209278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1133963" cy="1209294"/>
            </a:xfrm>
            <a:custGeom>
              <a:avLst/>
              <a:gdLst/>
              <a:ahLst/>
              <a:cxnLst/>
              <a:rect l="l" t="t" r="r" b="b"/>
              <a:pathLst>
                <a:path w="11133963" h="1209294">
                  <a:moveTo>
                    <a:pt x="0" y="0"/>
                  </a:moveTo>
                  <a:lnTo>
                    <a:pt x="11133963" y="0"/>
                  </a:lnTo>
                  <a:lnTo>
                    <a:pt x="11133963" y="1209294"/>
                  </a:lnTo>
                  <a:lnTo>
                    <a:pt x="0" y="1209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3" r="-132" b="1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370664" y="3518744"/>
            <a:ext cx="2821335" cy="366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487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Data Validation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70665" y="3951982"/>
            <a:ext cx="7897117" cy="37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0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Ensures incoming requests meet required formats and constraints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93551" y="4617690"/>
            <a:ext cx="8350449" cy="906959"/>
            <a:chOff x="0" y="0"/>
            <a:chExt cx="11133932" cy="1209278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1133963" cy="1209294"/>
            </a:xfrm>
            <a:custGeom>
              <a:avLst/>
              <a:gdLst/>
              <a:ahLst/>
              <a:cxnLst/>
              <a:rect l="l" t="t" r="r" b="b"/>
              <a:pathLst>
                <a:path w="11133963" h="1209294">
                  <a:moveTo>
                    <a:pt x="0" y="0"/>
                  </a:moveTo>
                  <a:lnTo>
                    <a:pt x="11133963" y="0"/>
                  </a:lnTo>
                  <a:lnTo>
                    <a:pt x="11133963" y="1209294"/>
                  </a:lnTo>
                  <a:lnTo>
                    <a:pt x="0" y="1209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3" r="-132" b="1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20216" y="5732265"/>
            <a:ext cx="2698552" cy="368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487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Database Bridge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0216" y="6165502"/>
            <a:ext cx="7897117" cy="37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0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Communicates with MongoDB to persist and retrieve data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144000" y="4617690"/>
            <a:ext cx="8350449" cy="906959"/>
            <a:chOff x="0" y="0"/>
            <a:chExt cx="11133932" cy="1209278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1133963" cy="1209294"/>
            </a:xfrm>
            <a:custGeom>
              <a:avLst/>
              <a:gdLst/>
              <a:ahLst/>
              <a:cxnLst/>
              <a:rect l="l" t="t" r="r" b="b"/>
              <a:pathLst>
                <a:path w="11133963" h="1209294">
                  <a:moveTo>
                    <a:pt x="0" y="0"/>
                  </a:moveTo>
                  <a:lnTo>
                    <a:pt x="11133963" y="0"/>
                  </a:lnTo>
                  <a:lnTo>
                    <a:pt x="11133963" y="1209294"/>
                  </a:lnTo>
                  <a:lnTo>
                    <a:pt x="0" y="1209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3" r="-132" b="1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370665" y="5732264"/>
            <a:ext cx="2698552" cy="39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4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Response Handling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70665" y="6165502"/>
            <a:ext cx="7897117" cy="37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0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Sends formatted JSON responses back to the frontend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3551" y="7293918"/>
            <a:ext cx="2908399" cy="39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4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Key Backend Routes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3551" y="7817792"/>
            <a:ext cx="8073926" cy="37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9165" lvl="1" indent="-154583" algn="l">
              <a:lnSpc>
                <a:spcPts val="3294"/>
              </a:lnSpc>
              <a:buFont typeface="Arial"/>
              <a:buChar char="•"/>
            </a:pPr>
            <a:r>
              <a:rPr lang="en-US" sz="20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GET /api/transactions — Retrieve all transactions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3551" y="8259961"/>
            <a:ext cx="8073926" cy="37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9165" lvl="1" indent="-154583" algn="l">
              <a:lnSpc>
                <a:spcPts val="3294"/>
              </a:lnSpc>
              <a:buFont typeface="Arial"/>
              <a:buChar char="•"/>
            </a:pPr>
            <a:r>
              <a:rPr lang="en-US" sz="20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POST /api/transactions — Create new transaction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3551" y="8702129"/>
            <a:ext cx="8073926" cy="379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9165" lvl="1" indent="-154583" algn="l">
              <a:lnSpc>
                <a:spcPts val="3294"/>
              </a:lnSpc>
              <a:buFont typeface="Arial"/>
              <a:buChar char="•"/>
            </a:pPr>
            <a:r>
              <a:rPr lang="en-US" sz="20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PUT /api/transactions/:id — Update existing transaction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3551" y="9106197"/>
            <a:ext cx="8073926" cy="41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9165" lvl="1" indent="-154583" algn="l">
              <a:lnSpc>
                <a:spcPts val="3294"/>
              </a:lnSpc>
              <a:buFont typeface="Arial"/>
              <a:buChar char="•"/>
            </a:pPr>
            <a:r>
              <a:rPr lang="en-US" sz="2049">
                <a:solidFill>
                  <a:srgbClr val="4A4A45"/>
                </a:solidFill>
                <a:latin typeface="Consolas"/>
                <a:ea typeface="Consolas"/>
                <a:cs typeface="Consolas"/>
                <a:sym typeface="Consolas"/>
              </a:rPr>
              <a:t>DELETE /api/transactions/:id — Remove transaction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30048" y="7293919"/>
            <a:ext cx="4209752" cy="366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487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Backend Responsibilities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430048" y="7817792"/>
            <a:ext cx="8073926" cy="119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04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The Express backend controls all business logic, ensures data integrity through validation, and provides a secure interface between the database and client.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71798" y="430262"/>
            <a:ext cx="7722840" cy="529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1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Angular Frontend: Dynamic User Interface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97574" y="1028700"/>
            <a:ext cx="7008467" cy="9258300"/>
            <a:chOff x="0" y="0"/>
            <a:chExt cx="9994305" cy="13202642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9994265" cy="13202665"/>
            </a:xfrm>
            <a:custGeom>
              <a:avLst/>
              <a:gdLst/>
              <a:ahLst/>
              <a:cxnLst/>
              <a:rect l="l" t="t" r="r" b="b"/>
              <a:pathLst>
                <a:path w="9994265" h="13202665">
                  <a:moveTo>
                    <a:pt x="0" y="0"/>
                  </a:moveTo>
                  <a:lnTo>
                    <a:pt x="9994265" y="0"/>
                  </a:lnTo>
                  <a:lnTo>
                    <a:pt x="9994265" y="13202665"/>
                  </a:lnTo>
                  <a:lnTo>
                    <a:pt x="0" y="132026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7" b="-17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475613" y="1256705"/>
            <a:ext cx="8857482" cy="1297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19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Our Angular frontend provides a </a:t>
            </a:r>
            <a:r>
              <a:rPr lang="en-US" sz="2199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responsive, dynamic interface</a:t>
            </a:r>
            <a:r>
              <a:rPr lang="en-US" sz="219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that communicates seamlessly with the backend API to deliver real-time updates.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49406" y="3638365"/>
            <a:ext cx="2347193" cy="329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15"/>
              </a:lnSpc>
            </a:pPr>
            <a:r>
              <a:rPr lang="en-US" sz="2199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Why Angular?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49407" y="4120838"/>
            <a:ext cx="8783688" cy="421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519"/>
              </a:lnSpc>
              <a:buFont typeface="Arial"/>
              <a:buChar char="•"/>
            </a:pPr>
            <a:r>
              <a:rPr lang="en-US" sz="2199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Course Alignment:</a:t>
            </a:r>
            <a:r>
              <a:rPr lang="en-US" sz="219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Directly relevant to COMP 2068 curriculum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49407" y="4665980"/>
            <a:ext cx="8783688" cy="859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519"/>
              </a:lnSpc>
              <a:buFont typeface="Arial"/>
              <a:buChar char="•"/>
            </a:pPr>
            <a:r>
              <a:rPr lang="en-US" sz="2199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Component Architecture:</a:t>
            </a:r>
            <a:r>
              <a:rPr lang="en-US" sz="219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Modular structure makes large apps manageable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49407" y="5685175"/>
            <a:ext cx="8783688" cy="859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519"/>
              </a:lnSpc>
              <a:buFont typeface="Arial"/>
              <a:buChar char="•"/>
            </a:pPr>
            <a:r>
              <a:rPr lang="en-US" sz="2199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Two-Way Data Binding:</a:t>
            </a:r>
            <a:r>
              <a:rPr lang="en-US" sz="219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UI and data stay synchronized automatically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49407" y="6704370"/>
            <a:ext cx="8783688" cy="421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519"/>
              </a:lnSpc>
              <a:buFont typeface="Arial"/>
              <a:buChar char="•"/>
            </a:pPr>
            <a:r>
              <a:rPr lang="en-US" sz="2199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Production-Ready:</a:t>
            </a:r>
            <a:r>
              <a:rPr lang="en-US" sz="219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Built by Google for enterprise applications</a:t>
            </a: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540972" y="2440781"/>
            <a:ext cx="975717" cy="1170980"/>
            <a:chOff x="0" y="0"/>
            <a:chExt cx="1300957" cy="1561307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300988" cy="1561338"/>
            </a:xfrm>
            <a:custGeom>
              <a:avLst/>
              <a:gdLst/>
              <a:ahLst/>
              <a:cxnLst/>
              <a:rect l="l" t="t" r="r" b="b"/>
              <a:pathLst>
                <a:path w="1300988" h="1561338">
                  <a:moveTo>
                    <a:pt x="0" y="0"/>
                  </a:moveTo>
                  <a:lnTo>
                    <a:pt x="1300988" y="0"/>
                  </a:lnTo>
                  <a:lnTo>
                    <a:pt x="1300988" y="1561338"/>
                  </a:lnTo>
                  <a:lnTo>
                    <a:pt x="0" y="1561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39" r="2" b="-237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40972" y="3611761"/>
            <a:ext cx="975717" cy="1170980"/>
            <a:chOff x="0" y="0"/>
            <a:chExt cx="1300957" cy="1561307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300988" cy="1561338"/>
            </a:xfrm>
            <a:custGeom>
              <a:avLst/>
              <a:gdLst/>
              <a:ahLst/>
              <a:cxnLst/>
              <a:rect l="l" t="t" r="r" b="b"/>
              <a:pathLst>
                <a:path w="1300988" h="1561338">
                  <a:moveTo>
                    <a:pt x="0" y="0"/>
                  </a:moveTo>
                  <a:lnTo>
                    <a:pt x="1300988" y="0"/>
                  </a:lnTo>
                  <a:lnTo>
                    <a:pt x="1300988" y="1561338"/>
                  </a:lnTo>
                  <a:lnTo>
                    <a:pt x="0" y="1561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39" r="2" b="-237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540972" y="4782741"/>
            <a:ext cx="975717" cy="1170980"/>
            <a:chOff x="0" y="0"/>
            <a:chExt cx="1300957" cy="1561307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300988" cy="1561338"/>
            </a:xfrm>
            <a:custGeom>
              <a:avLst/>
              <a:gdLst/>
              <a:ahLst/>
              <a:cxnLst/>
              <a:rect l="l" t="t" r="r" b="b"/>
              <a:pathLst>
                <a:path w="1300988" h="1561338">
                  <a:moveTo>
                    <a:pt x="0" y="0"/>
                  </a:moveTo>
                  <a:lnTo>
                    <a:pt x="1300988" y="0"/>
                  </a:lnTo>
                  <a:lnTo>
                    <a:pt x="1300988" y="1561338"/>
                  </a:lnTo>
                  <a:lnTo>
                    <a:pt x="0" y="1561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39" r="2" b="-237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540972" y="5953720"/>
            <a:ext cx="975717" cy="1170980"/>
            <a:chOff x="0" y="0"/>
            <a:chExt cx="1300957" cy="1561307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300988" cy="1561338"/>
            </a:xfrm>
            <a:custGeom>
              <a:avLst/>
              <a:gdLst/>
              <a:ahLst/>
              <a:cxnLst/>
              <a:rect l="l" t="t" r="r" b="b"/>
              <a:pathLst>
                <a:path w="1300988" h="1561338">
                  <a:moveTo>
                    <a:pt x="0" y="0"/>
                  </a:moveTo>
                  <a:lnTo>
                    <a:pt x="1300988" y="0"/>
                  </a:lnTo>
                  <a:lnTo>
                    <a:pt x="1300988" y="1561338"/>
                  </a:lnTo>
                  <a:lnTo>
                    <a:pt x="0" y="1561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39" r="2" b="-237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40972" y="7344221"/>
            <a:ext cx="10064055" cy="2248197"/>
            <a:chOff x="0" y="0"/>
            <a:chExt cx="13418740" cy="299759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418693" cy="2997581"/>
            </a:xfrm>
            <a:custGeom>
              <a:avLst/>
              <a:gdLst/>
              <a:ahLst/>
              <a:cxnLst/>
              <a:rect l="l" t="t" r="r" b="b"/>
              <a:pathLst>
                <a:path w="13418693" h="2997581">
                  <a:moveTo>
                    <a:pt x="0" y="38989"/>
                  </a:moveTo>
                  <a:cubicBezTo>
                    <a:pt x="0" y="17526"/>
                    <a:pt x="17526" y="0"/>
                    <a:pt x="38989" y="0"/>
                  </a:cubicBezTo>
                  <a:lnTo>
                    <a:pt x="13379704" y="0"/>
                  </a:lnTo>
                  <a:cubicBezTo>
                    <a:pt x="13401294" y="0"/>
                    <a:pt x="13418693" y="17526"/>
                    <a:pt x="13418693" y="38989"/>
                  </a:cubicBezTo>
                  <a:lnTo>
                    <a:pt x="13418693" y="2958592"/>
                  </a:lnTo>
                  <a:cubicBezTo>
                    <a:pt x="13418693" y="2980182"/>
                    <a:pt x="13401167" y="2997581"/>
                    <a:pt x="13379704" y="2997581"/>
                  </a:cubicBezTo>
                  <a:lnTo>
                    <a:pt x="38989" y="2997581"/>
                  </a:lnTo>
                  <a:cubicBezTo>
                    <a:pt x="17399" y="2997581"/>
                    <a:pt x="0" y="2980055"/>
                    <a:pt x="0" y="2958592"/>
                  </a:cubicBezTo>
                  <a:close/>
                </a:path>
              </a:pathLst>
            </a:custGeom>
            <a:solidFill>
              <a:srgbClr val="E5DFD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540972" y="7344221"/>
            <a:ext cx="5032028" cy="1124099"/>
            <a:chOff x="0" y="0"/>
            <a:chExt cx="6709370" cy="149879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709283" cy="1498727"/>
            </a:xfrm>
            <a:custGeom>
              <a:avLst/>
              <a:gdLst/>
              <a:ahLst/>
              <a:cxnLst/>
              <a:rect l="l" t="t" r="r" b="b"/>
              <a:pathLst>
                <a:path w="6709283" h="1498727">
                  <a:moveTo>
                    <a:pt x="0" y="38989"/>
                  </a:moveTo>
                  <a:cubicBezTo>
                    <a:pt x="0" y="17526"/>
                    <a:pt x="17526" y="0"/>
                    <a:pt x="38989" y="0"/>
                  </a:cubicBezTo>
                  <a:lnTo>
                    <a:pt x="6670294" y="0"/>
                  </a:lnTo>
                  <a:cubicBezTo>
                    <a:pt x="6691884" y="0"/>
                    <a:pt x="6709283" y="17526"/>
                    <a:pt x="6709283" y="38989"/>
                  </a:cubicBezTo>
                  <a:lnTo>
                    <a:pt x="6709283" y="1459738"/>
                  </a:lnTo>
                  <a:cubicBezTo>
                    <a:pt x="6709283" y="1481328"/>
                    <a:pt x="6691757" y="1498727"/>
                    <a:pt x="6670294" y="1498727"/>
                  </a:cubicBezTo>
                  <a:lnTo>
                    <a:pt x="38989" y="1498727"/>
                  </a:lnTo>
                  <a:cubicBezTo>
                    <a:pt x="17399" y="1498727"/>
                    <a:pt x="0" y="1481201"/>
                    <a:pt x="0" y="1459738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573000" y="7344221"/>
            <a:ext cx="5032027" cy="1124099"/>
            <a:chOff x="0" y="0"/>
            <a:chExt cx="6709370" cy="149879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709410" cy="1498854"/>
            </a:xfrm>
            <a:custGeom>
              <a:avLst/>
              <a:gdLst/>
              <a:ahLst/>
              <a:cxnLst/>
              <a:rect l="l" t="t" r="r" b="b"/>
              <a:pathLst>
                <a:path w="6709410" h="1498854">
                  <a:moveTo>
                    <a:pt x="0" y="0"/>
                  </a:moveTo>
                  <a:lnTo>
                    <a:pt x="6709410" y="0"/>
                  </a:lnTo>
                  <a:lnTo>
                    <a:pt x="6709410" y="1498854"/>
                  </a:lnTo>
                  <a:lnTo>
                    <a:pt x="0" y="1498854"/>
                  </a:lnTo>
                  <a:close/>
                </a:path>
              </a:pathLst>
            </a:custGeom>
            <a:solidFill>
              <a:srgbClr val="DED8C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573000" y="7344221"/>
            <a:ext cx="28575" cy="1124099"/>
            <a:chOff x="0" y="0"/>
            <a:chExt cx="38100" cy="149879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100" cy="1498854"/>
            </a:xfrm>
            <a:custGeom>
              <a:avLst/>
              <a:gdLst/>
              <a:ahLst/>
              <a:cxnLst/>
              <a:rect l="l" t="t" r="r" b="b"/>
              <a:pathLst>
                <a:path w="38100" h="149885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479804"/>
                  </a:lnTo>
                  <a:cubicBezTo>
                    <a:pt x="38100" y="1490345"/>
                    <a:pt x="29591" y="1498854"/>
                    <a:pt x="19050" y="1498854"/>
                  </a:cubicBezTo>
                  <a:cubicBezTo>
                    <a:pt x="8509" y="1498854"/>
                    <a:pt x="0" y="1490345"/>
                    <a:pt x="0" y="1479804"/>
                  </a:cubicBezTo>
                  <a:close/>
                </a:path>
              </a:pathLst>
            </a:custGeom>
            <a:solidFill>
              <a:srgbClr val="C4BEB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40972" y="8468320"/>
            <a:ext cx="10064055" cy="1124099"/>
            <a:chOff x="0" y="0"/>
            <a:chExt cx="13418740" cy="149879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418693" cy="1498854"/>
            </a:xfrm>
            <a:custGeom>
              <a:avLst/>
              <a:gdLst/>
              <a:ahLst/>
              <a:cxnLst/>
              <a:rect l="l" t="t" r="r" b="b"/>
              <a:pathLst>
                <a:path w="13418693" h="1498854">
                  <a:moveTo>
                    <a:pt x="0" y="0"/>
                  </a:moveTo>
                  <a:lnTo>
                    <a:pt x="13418693" y="0"/>
                  </a:lnTo>
                  <a:lnTo>
                    <a:pt x="13418693" y="1498854"/>
                  </a:lnTo>
                  <a:lnTo>
                    <a:pt x="0" y="1498854"/>
                  </a:lnTo>
                  <a:close/>
                </a:path>
              </a:pathLst>
            </a:custGeom>
            <a:solidFill>
              <a:srgbClr val="E8E4D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540972" y="8468320"/>
            <a:ext cx="10064055" cy="28575"/>
            <a:chOff x="0" y="0"/>
            <a:chExt cx="13418740" cy="381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418693" cy="38100"/>
            </a:xfrm>
            <a:custGeom>
              <a:avLst/>
              <a:gdLst/>
              <a:ahLst/>
              <a:cxnLst/>
              <a:rect l="l" t="t" r="r" b="b"/>
              <a:pathLst>
                <a:path w="13418693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3399643" y="0"/>
                  </a:lnTo>
                  <a:cubicBezTo>
                    <a:pt x="13410183" y="0"/>
                    <a:pt x="13418693" y="8509"/>
                    <a:pt x="13418693" y="19050"/>
                  </a:cubicBezTo>
                  <a:cubicBezTo>
                    <a:pt x="13418693" y="29591"/>
                    <a:pt x="13410183" y="38100"/>
                    <a:pt x="1339964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ECAC3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6" name="Freeform 26"/>
          <p:cNvSpPr/>
          <p:nvPr/>
        </p:nvSpPr>
        <p:spPr>
          <a:xfrm>
            <a:off x="-1" y="2516535"/>
            <a:ext cx="7321897" cy="5600625"/>
          </a:xfrm>
          <a:custGeom>
            <a:avLst/>
            <a:gdLst/>
            <a:ahLst/>
            <a:cxnLst/>
            <a:rect l="l" t="t" r="r" b="b"/>
            <a:pathLst>
              <a:path w="7462242" h="5600625">
                <a:moveTo>
                  <a:pt x="0" y="0"/>
                </a:moveTo>
                <a:lnTo>
                  <a:pt x="7462242" y="0"/>
                </a:lnTo>
                <a:lnTo>
                  <a:pt x="7462242" y="5600625"/>
                </a:lnTo>
                <a:lnTo>
                  <a:pt x="0" y="5600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715" r="-17009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7" name="TextBox 27"/>
          <p:cNvSpPr txBox="1"/>
          <p:nvPr/>
        </p:nvSpPr>
        <p:spPr>
          <a:xfrm>
            <a:off x="7540972" y="675531"/>
            <a:ext cx="5074592" cy="628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81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Full-Stack Architecture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40972" y="1530400"/>
            <a:ext cx="10064055" cy="69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Understanding how all the pieces work together is crucial for full-stack development. Here's how our application components communicate: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711804" y="2616845"/>
            <a:ext cx="2439591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Client Browser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711804" y="2990999"/>
            <a:ext cx="8893225" cy="378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User interacts with Angular application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11804" y="3787825"/>
            <a:ext cx="2439591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Angular Frontend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711804" y="4161979"/>
            <a:ext cx="8893225" cy="378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Sends HTTP requests to backend API endpoints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711804" y="4958804"/>
            <a:ext cx="2439591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Express Backend API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711804" y="5332959"/>
            <a:ext cx="8893225" cy="378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Processes requests, validates data, queries database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11804" y="6129784"/>
            <a:ext cx="2439591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MongoDB Atlas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711804" y="6503937"/>
            <a:ext cx="8893225" cy="378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Stores and retrieves data from cloud cluster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736086" y="7520285"/>
            <a:ext cx="2439591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Frontend Deployment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36086" y="7894439"/>
            <a:ext cx="4641800" cy="378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Static site hosted on Render for fast global delivery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768114" y="7520285"/>
            <a:ext cx="2439591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Backend Deployment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768114" y="7894439"/>
            <a:ext cx="4641800" cy="378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Node.js web service running continuously on Render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36086" y="8644384"/>
            <a:ext cx="2439591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Database Hosting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736086" y="9018537"/>
            <a:ext cx="9673828" cy="378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MongoDB Atlas cluster providing managed cloud storage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24805" y="805160"/>
            <a:ext cx="11595795" cy="7088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98"/>
              </a:lnSpc>
            </a:pPr>
            <a:r>
              <a:rPr lang="en-US" sz="4824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Live Demo: PayPal Transactions Manager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4805" y="1946225"/>
            <a:ext cx="16638389" cy="38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01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We've built a fully functional </a:t>
            </a:r>
            <a:r>
              <a:rPr lang="en-US" sz="2012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PayPal Transactions Manager</a:t>
            </a:r>
            <a:r>
              <a:rPr lang="en-US" sz="201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that demonstrates all the concepts we've covered, deployed and running in production.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24805" y="3027610"/>
            <a:ext cx="8201322" cy="1740247"/>
            <a:chOff x="0" y="0"/>
            <a:chExt cx="10935097" cy="23203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35081" cy="2320290"/>
            </a:xfrm>
            <a:custGeom>
              <a:avLst/>
              <a:gdLst/>
              <a:ahLst/>
              <a:cxnLst/>
              <a:rect l="l" t="t" r="r" b="b"/>
              <a:pathLst>
                <a:path w="10935081" h="232029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52201" y="0"/>
                  </a:lnTo>
                  <a:cubicBezTo>
                    <a:pt x="10853166" y="0"/>
                    <a:pt x="10935081" y="81915"/>
                    <a:pt x="10935081" y="182880"/>
                  </a:cubicBezTo>
                  <a:lnTo>
                    <a:pt x="10935081" y="2137410"/>
                  </a:lnTo>
                  <a:cubicBezTo>
                    <a:pt x="10935081" y="2238375"/>
                    <a:pt x="10853166" y="2320290"/>
                    <a:pt x="10752201" y="2320290"/>
                  </a:cubicBezTo>
                  <a:lnTo>
                    <a:pt x="182880" y="2320290"/>
                  </a:lnTo>
                  <a:cubicBezTo>
                    <a:pt x="81915" y="2320290"/>
                    <a:pt x="0" y="2238502"/>
                    <a:pt x="0" y="2137410"/>
                  </a:cubicBez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4805" y="2999035"/>
            <a:ext cx="8201322" cy="114300"/>
            <a:chOff x="0" y="0"/>
            <a:chExt cx="10935097" cy="152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35081" cy="152400"/>
            </a:xfrm>
            <a:custGeom>
              <a:avLst/>
              <a:gdLst/>
              <a:ahLst/>
              <a:cxnLst/>
              <a:rect l="l" t="t" r="r" b="b"/>
              <a:pathLst>
                <a:path w="10935081" h="152400">
                  <a:moveTo>
                    <a:pt x="0" y="47117"/>
                  </a:moveTo>
                  <a:cubicBezTo>
                    <a:pt x="0" y="21082"/>
                    <a:pt x="21082" y="0"/>
                    <a:pt x="47117" y="0"/>
                  </a:cubicBezTo>
                  <a:lnTo>
                    <a:pt x="10887964" y="0"/>
                  </a:lnTo>
                  <a:cubicBezTo>
                    <a:pt x="10913999" y="0"/>
                    <a:pt x="10935081" y="21082"/>
                    <a:pt x="10935081" y="47117"/>
                  </a:cubicBezTo>
                  <a:lnTo>
                    <a:pt x="10935081" y="105283"/>
                  </a:lnTo>
                  <a:cubicBezTo>
                    <a:pt x="10935081" y="131318"/>
                    <a:pt x="10913999" y="152400"/>
                    <a:pt x="10887964" y="152400"/>
                  </a:cubicBezTo>
                  <a:lnTo>
                    <a:pt x="47117" y="152400"/>
                  </a:lnTo>
                  <a:cubicBezTo>
                    <a:pt x="21082" y="152400"/>
                    <a:pt x="0" y="131318"/>
                    <a:pt x="0" y="105283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0" y="2674144"/>
            <a:ext cx="706934" cy="706934"/>
            <a:chOff x="0" y="0"/>
            <a:chExt cx="942578" cy="94257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42594" cy="942594"/>
            </a:xfrm>
            <a:custGeom>
              <a:avLst/>
              <a:gdLst/>
              <a:ahLst/>
              <a:cxnLst/>
              <a:rect l="l" t="t" r="r" b="b"/>
              <a:pathLst>
                <a:path w="942594" h="942594">
                  <a:moveTo>
                    <a:pt x="0" y="471297"/>
                  </a:moveTo>
                  <a:cubicBezTo>
                    <a:pt x="0" y="210947"/>
                    <a:pt x="210947" y="0"/>
                    <a:pt x="471297" y="0"/>
                  </a:cubicBezTo>
                  <a:cubicBezTo>
                    <a:pt x="731647" y="0"/>
                    <a:pt x="942594" y="210947"/>
                    <a:pt x="942594" y="471297"/>
                  </a:cubicBezTo>
                  <a:cubicBezTo>
                    <a:pt x="942594" y="731647"/>
                    <a:pt x="731520" y="942594"/>
                    <a:pt x="471297" y="942594"/>
                  </a:cubicBezTo>
                  <a:cubicBezTo>
                    <a:pt x="211074" y="942594"/>
                    <a:pt x="0" y="731520"/>
                    <a:pt x="0" y="471297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831853" y="2755552"/>
            <a:ext cx="175915" cy="451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387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88974" y="3597772"/>
            <a:ext cx="2949625" cy="366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512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Add Transaction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8975" y="4040833"/>
            <a:ext cx="7672982" cy="38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01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Create new payment records with payer, payee, amount, and status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261722" y="3027610"/>
            <a:ext cx="8201471" cy="1740247"/>
            <a:chOff x="0" y="0"/>
            <a:chExt cx="10935295" cy="232033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35336" cy="2320290"/>
            </a:xfrm>
            <a:custGeom>
              <a:avLst/>
              <a:gdLst/>
              <a:ahLst/>
              <a:cxnLst/>
              <a:rect l="l" t="t" r="r" b="b"/>
              <a:pathLst>
                <a:path w="10935336" h="232029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52455" y="0"/>
                  </a:lnTo>
                  <a:cubicBezTo>
                    <a:pt x="10853420" y="0"/>
                    <a:pt x="10935336" y="81915"/>
                    <a:pt x="10935336" y="182880"/>
                  </a:cubicBezTo>
                  <a:lnTo>
                    <a:pt x="10935336" y="2137410"/>
                  </a:lnTo>
                  <a:cubicBezTo>
                    <a:pt x="10935336" y="2238375"/>
                    <a:pt x="10853420" y="2320290"/>
                    <a:pt x="10752455" y="2320290"/>
                  </a:cubicBezTo>
                  <a:lnTo>
                    <a:pt x="182880" y="2320290"/>
                  </a:lnTo>
                  <a:cubicBezTo>
                    <a:pt x="81915" y="2320290"/>
                    <a:pt x="0" y="2238502"/>
                    <a:pt x="0" y="2137410"/>
                  </a:cubicBez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261722" y="2999035"/>
            <a:ext cx="8201471" cy="114300"/>
            <a:chOff x="0" y="0"/>
            <a:chExt cx="10935295" cy="152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935336" cy="152400"/>
            </a:xfrm>
            <a:custGeom>
              <a:avLst/>
              <a:gdLst/>
              <a:ahLst/>
              <a:cxnLst/>
              <a:rect l="l" t="t" r="r" b="b"/>
              <a:pathLst>
                <a:path w="10935336" h="152400">
                  <a:moveTo>
                    <a:pt x="0" y="47117"/>
                  </a:moveTo>
                  <a:cubicBezTo>
                    <a:pt x="0" y="21082"/>
                    <a:pt x="21082" y="0"/>
                    <a:pt x="47117" y="0"/>
                  </a:cubicBezTo>
                  <a:lnTo>
                    <a:pt x="10888218" y="0"/>
                  </a:lnTo>
                  <a:cubicBezTo>
                    <a:pt x="10914253" y="0"/>
                    <a:pt x="10935336" y="21082"/>
                    <a:pt x="10935336" y="47117"/>
                  </a:cubicBezTo>
                  <a:lnTo>
                    <a:pt x="10935336" y="105283"/>
                  </a:lnTo>
                  <a:cubicBezTo>
                    <a:pt x="10935336" y="131318"/>
                    <a:pt x="10914253" y="152400"/>
                    <a:pt x="10888218" y="152400"/>
                  </a:cubicBezTo>
                  <a:lnTo>
                    <a:pt x="47117" y="152400"/>
                  </a:lnTo>
                  <a:cubicBezTo>
                    <a:pt x="21082" y="152400"/>
                    <a:pt x="0" y="131318"/>
                    <a:pt x="0" y="105283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008917" y="2674144"/>
            <a:ext cx="706934" cy="706934"/>
            <a:chOff x="0" y="0"/>
            <a:chExt cx="942578" cy="94257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42594" cy="942594"/>
            </a:xfrm>
            <a:custGeom>
              <a:avLst/>
              <a:gdLst/>
              <a:ahLst/>
              <a:cxnLst/>
              <a:rect l="l" t="t" r="r" b="b"/>
              <a:pathLst>
                <a:path w="942594" h="942594">
                  <a:moveTo>
                    <a:pt x="0" y="471297"/>
                  </a:moveTo>
                  <a:cubicBezTo>
                    <a:pt x="0" y="210947"/>
                    <a:pt x="210947" y="0"/>
                    <a:pt x="471297" y="0"/>
                  </a:cubicBezTo>
                  <a:cubicBezTo>
                    <a:pt x="731647" y="0"/>
                    <a:pt x="942594" y="210947"/>
                    <a:pt x="942594" y="471297"/>
                  </a:cubicBezTo>
                  <a:cubicBezTo>
                    <a:pt x="942594" y="731647"/>
                    <a:pt x="731520" y="942594"/>
                    <a:pt x="471297" y="942594"/>
                  </a:cubicBezTo>
                  <a:cubicBezTo>
                    <a:pt x="211074" y="942594"/>
                    <a:pt x="0" y="731520"/>
                    <a:pt x="0" y="471297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274501" y="2755552"/>
            <a:ext cx="175915" cy="451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387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25892" y="3597771"/>
            <a:ext cx="2589908" cy="366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512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Edit Transaction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25892" y="4040833"/>
            <a:ext cx="7673131" cy="38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01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Modify existing transaction details with real-time updates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824805" y="5356920"/>
            <a:ext cx="8201322" cy="1740248"/>
            <a:chOff x="0" y="0"/>
            <a:chExt cx="10935097" cy="232033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935081" cy="2320290"/>
            </a:xfrm>
            <a:custGeom>
              <a:avLst/>
              <a:gdLst/>
              <a:ahLst/>
              <a:cxnLst/>
              <a:rect l="l" t="t" r="r" b="b"/>
              <a:pathLst>
                <a:path w="10935081" h="232029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52201" y="0"/>
                  </a:lnTo>
                  <a:cubicBezTo>
                    <a:pt x="10853166" y="0"/>
                    <a:pt x="10935081" y="81915"/>
                    <a:pt x="10935081" y="182880"/>
                  </a:cubicBezTo>
                  <a:lnTo>
                    <a:pt x="10935081" y="2137410"/>
                  </a:lnTo>
                  <a:cubicBezTo>
                    <a:pt x="10935081" y="2238375"/>
                    <a:pt x="10853166" y="2320290"/>
                    <a:pt x="10752201" y="2320290"/>
                  </a:cubicBezTo>
                  <a:lnTo>
                    <a:pt x="182880" y="2320290"/>
                  </a:lnTo>
                  <a:cubicBezTo>
                    <a:pt x="81915" y="2320290"/>
                    <a:pt x="0" y="2238502"/>
                    <a:pt x="0" y="2137410"/>
                  </a:cubicBez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24805" y="5328345"/>
            <a:ext cx="8201322" cy="114300"/>
            <a:chOff x="0" y="0"/>
            <a:chExt cx="10935097" cy="152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935081" cy="152400"/>
            </a:xfrm>
            <a:custGeom>
              <a:avLst/>
              <a:gdLst/>
              <a:ahLst/>
              <a:cxnLst/>
              <a:rect l="l" t="t" r="r" b="b"/>
              <a:pathLst>
                <a:path w="10935081" h="152400">
                  <a:moveTo>
                    <a:pt x="0" y="47117"/>
                  </a:moveTo>
                  <a:cubicBezTo>
                    <a:pt x="0" y="21082"/>
                    <a:pt x="21082" y="0"/>
                    <a:pt x="47117" y="0"/>
                  </a:cubicBezTo>
                  <a:lnTo>
                    <a:pt x="10887964" y="0"/>
                  </a:lnTo>
                  <a:cubicBezTo>
                    <a:pt x="10913999" y="0"/>
                    <a:pt x="10935081" y="21082"/>
                    <a:pt x="10935081" y="47117"/>
                  </a:cubicBezTo>
                  <a:lnTo>
                    <a:pt x="10935081" y="105283"/>
                  </a:lnTo>
                  <a:cubicBezTo>
                    <a:pt x="10935081" y="131318"/>
                    <a:pt x="10913999" y="152400"/>
                    <a:pt x="10887964" y="152400"/>
                  </a:cubicBezTo>
                  <a:lnTo>
                    <a:pt x="47117" y="152400"/>
                  </a:lnTo>
                  <a:cubicBezTo>
                    <a:pt x="21082" y="152400"/>
                    <a:pt x="0" y="131318"/>
                    <a:pt x="0" y="105283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72000" y="5003452"/>
            <a:ext cx="706934" cy="706934"/>
            <a:chOff x="0" y="0"/>
            <a:chExt cx="942578" cy="94257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42594" cy="942594"/>
            </a:xfrm>
            <a:custGeom>
              <a:avLst/>
              <a:gdLst/>
              <a:ahLst/>
              <a:cxnLst/>
              <a:rect l="l" t="t" r="r" b="b"/>
              <a:pathLst>
                <a:path w="942594" h="942594">
                  <a:moveTo>
                    <a:pt x="0" y="471297"/>
                  </a:moveTo>
                  <a:cubicBezTo>
                    <a:pt x="0" y="210947"/>
                    <a:pt x="210947" y="0"/>
                    <a:pt x="471297" y="0"/>
                  </a:cubicBezTo>
                  <a:cubicBezTo>
                    <a:pt x="731647" y="0"/>
                    <a:pt x="942594" y="210947"/>
                    <a:pt x="942594" y="471297"/>
                  </a:cubicBezTo>
                  <a:cubicBezTo>
                    <a:pt x="942594" y="731647"/>
                    <a:pt x="731520" y="942594"/>
                    <a:pt x="471297" y="942594"/>
                  </a:cubicBezTo>
                  <a:cubicBezTo>
                    <a:pt x="211074" y="942594"/>
                    <a:pt x="0" y="731520"/>
                    <a:pt x="0" y="471297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4831853" y="5084861"/>
            <a:ext cx="175915" cy="451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387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88974" y="5927080"/>
            <a:ext cx="3254425" cy="366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512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Delete Transaction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8975" y="6370141"/>
            <a:ext cx="7908546" cy="372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012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Remove transactions with confirmation and immediate database sync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9261722" y="5356920"/>
            <a:ext cx="8201471" cy="1740248"/>
            <a:chOff x="0" y="0"/>
            <a:chExt cx="10935295" cy="232033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935336" cy="2320290"/>
            </a:xfrm>
            <a:custGeom>
              <a:avLst/>
              <a:gdLst/>
              <a:ahLst/>
              <a:cxnLst/>
              <a:rect l="l" t="t" r="r" b="b"/>
              <a:pathLst>
                <a:path w="10935336" h="232029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752455" y="0"/>
                  </a:lnTo>
                  <a:cubicBezTo>
                    <a:pt x="10853420" y="0"/>
                    <a:pt x="10935336" y="81915"/>
                    <a:pt x="10935336" y="182880"/>
                  </a:cubicBezTo>
                  <a:lnTo>
                    <a:pt x="10935336" y="2137410"/>
                  </a:lnTo>
                  <a:cubicBezTo>
                    <a:pt x="10935336" y="2238375"/>
                    <a:pt x="10853420" y="2320290"/>
                    <a:pt x="10752455" y="2320290"/>
                  </a:cubicBezTo>
                  <a:lnTo>
                    <a:pt x="182880" y="2320290"/>
                  </a:lnTo>
                  <a:cubicBezTo>
                    <a:pt x="81915" y="2320290"/>
                    <a:pt x="0" y="2238502"/>
                    <a:pt x="0" y="2137410"/>
                  </a:cubicBez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261722" y="5328345"/>
            <a:ext cx="8201471" cy="114300"/>
            <a:chOff x="0" y="0"/>
            <a:chExt cx="10935295" cy="152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935336" cy="152400"/>
            </a:xfrm>
            <a:custGeom>
              <a:avLst/>
              <a:gdLst/>
              <a:ahLst/>
              <a:cxnLst/>
              <a:rect l="l" t="t" r="r" b="b"/>
              <a:pathLst>
                <a:path w="10935336" h="152400">
                  <a:moveTo>
                    <a:pt x="0" y="47117"/>
                  </a:moveTo>
                  <a:cubicBezTo>
                    <a:pt x="0" y="21082"/>
                    <a:pt x="21082" y="0"/>
                    <a:pt x="47117" y="0"/>
                  </a:cubicBezTo>
                  <a:lnTo>
                    <a:pt x="10888218" y="0"/>
                  </a:lnTo>
                  <a:cubicBezTo>
                    <a:pt x="10914253" y="0"/>
                    <a:pt x="10935336" y="21082"/>
                    <a:pt x="10935336" y="47117"/>
                  </a:cubicBezTo>
                  <a:lnTo>
                    <a:pt x="10935336" y="105283"/>
                  </a:lnTo>
                  <a:cubicBezTo>
                    <a:pt x="10935336" y="131318"/>
                    <a:pt x="10914253" y="152400"/>
                    <a:pt x="10888218" y="152400"/>
                  </a:cubicBezTo>
                  <a:lnTo>
                    <a:pt x="47117" y="152400"/>
                  </a:lnTo>
                  <a:cubicBezTo>
                    <a:pt x="21082" y="152400"/>
                    <a:pt x="0" y="131318"/>
                    <a:pt x="0" y="105283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008917" y="5003452"/>
            <a:ext cx="706934" cy="706934"/>
            <a:chOff x="0" y="0"/>
            <a:chExt cx="942578" cy="94257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42594" cy="942594"/>
            </a:xfrm>
            <a:custGeom>
              <a:avLst/>
              <a:gdLst/>
              <a:ahLst/>
              <a:cxnLst/>
              <a:rect l="l" t="t" r="r" b="b"/>
              <a:pathLst>
                <a:path w="942594" h="942594">
                  <a:moveTo>
                    <a:pt x="0" y="471297"/>
                  </a:moveTo>
                  <a:cubicBezTo>
                    <a:pt x="0" y="210947"/>
                    <a:pt x="210947" y="0"/>
                    <a:pt x="471297" y="0"/>
                  </a:cubicBezTo>
                  <a:cubicBezTo>
                    <a:pt x="731647" y="0"/>
                    <a:pt x="942594" y="210947"/>
                    <a:pt x="942594" y="471297"/>
                  </a:cubicBezTo>
                  <a:cubicBezTo>
                    <a:pt x="942594" y="731647"/>
                    <a:pt x="731520" y="942594"/>
                    <a:pt x="471297" y="942594"/>
                  </a:cubicBezTo>
                  <a:cubicBezTo>
                    <a:pt x="211074" y="942594"/>
                    <a:pt x="0" y="731520"/>
                    <a:pt x="0" y="471297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3274427" y="5084861"/>
            <a:ext cx="175915" cy="451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387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4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525892" y="5927081"/>
            <a:ext cx="3580508" cy="366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512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View All Transactions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525892" y="6370141"/>
            <a:ext cx="7673131" cy="38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01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Browse complete transaction history with filtering options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24805" y="7431584"/>
            <a:ext cx="3978473" cy="395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3"/>
              </a:lnSpc>
            </a:pPr>
            <a:r>
              <a:rPr lang="en-US" sz="251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Access Our Live Application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824805" y="8172450"/>
            <a:ext cx="2711500" cy="648146"/>
            <a:chOff x="0" y="0"/>
            <a:chExt cx="3615333" cy="864195"/>
          </a:xfrm>
        </p:grpSpPr>
        <p:sp>
          <p:nvSpPr>
            <p:cNvPr id="46" name="Freeform 46" descr="preencoded.png">
              <a:hlinkClick r:id="rId2" tooltip="https://comp2068jsframeworks-12-x4so.onrender.com/"/>
            </p:cNvPr>
            <p:cNvSpPr/>
            <p:nvPr/>
          </p:nvSpPr>
          <p:spPr>
            <a:xfrm>
              <a:off x="0" y="0"/>
              <a:ext cx="3615309" cy="864235"/>
            </a:xfrm>
            <a:custGeom>
              <a:avLst/>
              <a:gdLst/>
              <a:ahLst/>
              <a:cxnLst/>
              <a:rect l="l" t="t" r="r" b="b"/>
              <a:pathLst>
                <a:path w="3615309" h="864235">
                  <a:moveTo>
                    <a:pt x="0" y="0"/>
                  </a:moveTo>
                  <a:lnTo>
                    <a:pt x="3615309" y="0"/>
                  </a:lnTo>
                  <a:lnTo>
                    <a:pt x="3615309" y="864235"/>
                  </a:lnTo>
                  <a:lnTo>
                    <a:pt x="0" y="864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2" r="-92" b="4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654029" y="8172450"/>
            <a:ext cx="1811387" cy="648146"/>
            <a:chOff x="0" y="0"/>
            <a:chExt cx="2415183" cy="864195"/>
          </a:xfrm>
        </p:grpSpPr>
        <p:sp>
          <p:nvSpPr>
            <p:cNvPr id="48" name="Freeform 48" descr="preencoded.png">
              <a:hlinkClick r:id="rId4" tooltip="https://paypal-backend-1v6y.onrender.com/"/>
            </p:cNvPr>
            <p:cNvSpPr/>
            <p:nvPr/>
          </p:nvSpPr>
          <p:spPr>
            <a:xfrm>
              <a:off x="0" y="0"/>
              <a:ext cx="2415159" cy="864235"/>
            </a:xfrm>
            <a:custGeom>
              <a:avLst/>
              <a:gdLst/>
              <a:ahLst/>
              <a:cxnLst/>
              <a:rect l="l" t="t" r="r" b="b"/>
              <a:pathLst>
                <a:path w="2415159" h="864235">
                  <a:moveTo>
                    <a:pt x="0" y="0"/>
                  </a:moveTo>
                  <a:lnTo>
                    <a:pt x="2415159" y="0"/>
                  </a:lnTo>
                  <a:lnTo>
                    <a:pt x="2415159" y="864235"/>
                  </a:lnTo>
                  <a:lnTo>
                    <a:pt x="0" y="864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" r="-1" b="-6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583139" y="8172450"/>
            <a:ext cx="2449711" cy="648146"/>
            <a:chOff x="0" y="0"/>
            <a:chExt cx="3266282" cy="864195"/>
          </a:xfrm>
        </p:grpSpPr>
        <p:sp>
          <p:nvSpPr>
            <p:cNvPr id="50" name="Freeform 50" descr="preencoded.png">
              <a:hlinkClick r:id="rId6" tooltip="https://github.com/PurabPriyani/COMP2068JSFrameworks"/>
            </p:cNvPr>
            <p:cNvSpPr/>
            <p:nvPr/>
          </p:nvSpPr>
          <p:spPr>
            <a:xfrm>
              <a:off x="0" y="0"/>
              <a:ext cx="3266313" cy="864235"/>
            </a:xfrm>
            <a:custGeom>
              <a:avLst/>
              <a:gdLst/>
              <a:ahLst/>
              <a:cxnLst/>
              <a:rect l="l" t="t" r="r" b="b"/>
              <a:pathLst>
                <a:path w="3266313" h="864235">
                  <a:moveTo>
                    <a:pt x="0" y="0"/>
                  </a:moveTo>
                  <a:lnTo>
                    <a:pt x="3266313" y="0"/>
                  </a:lnTo>
                  <a:lnTo>
                    <a:pt x="3266313" y="864235"/>
                  </a:lnTo>
                  <a:lnTo>
                    <a:pt x="0" y="864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" b="2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824805" y="8999934"/>
            <a:ext cx="16638389" cy="79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01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Feel free to explore the application, test the functionality, and review the source code. The backend API endpoint will show available routes when accessed directly.</a:t>
            </a:r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96044" y="361206"/>
            <a:ext cx="12229356" cy="5544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3749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In-Class Exercise: Build Your First Full-Stack Application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6044" y="953161"/>
            <a:ext cx="17295911" cy="82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7"/>
              </a:lnSpc>
            </a:pPr>
            <a:r>
              <a:rPr lang="en-US" sz="2062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To help you learn this stack hands-on, we've created a simple guided exercise that walks you through building a complete full-stack application from start to finish.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96044" y="1912386"/>
            <a:ext cx="8577114" cy="1613474"/>
            <a:chOff x="0" y="0"/>
            <a:chExt cx="11436152" cy="21512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36096" cy="2151298"/>
            </a:xfrm>
            <a:custGeom>
              <a:avLst/>
              <a:gdLst/>
              <a:ahLst/>
              <a:cxnLst/>
              <a:rect l="l" t="t" r="r" b="b"/>
              <a:pathLst>
                <a:path w="11436096" h="2151298">
                  <a:moveTo>
                    <a:pt x="0" y="33029"/>
                  </a:moveTo>
                  <a:cubicBezTo>
                    <a:pt x="0" y="14811"/>
                    <a:pt x="12700" y="0"/>
                    <a:pt x="28321" y="0"/>
                  </a:cubicBezTo>
                  <a:lnTo>
                    <a:pt x="11407775" y="0"/>
                  </a:lnTo>
                  <a:cubicBezTo>
                    <a:pt x="11423396" y="0"/>
                    <a:pt x="11436096" y="14811"/>
                    <a:pt x="11436096" y="33029"/>
                  </a:cubicBezTo>
                  <a:lnTo>
                    <a:pt x="11436096" y="2118270"/>
                  </a:lnTo>
                  <a:cubicBezTo>
                    <a:pt x="11436096" y="2136487"/>
                    <a:pt x="11423396" y="2151298"/>
                    <a:pt x="11407775" y="2151298"/>
                  </a:cubicBezTo>
                  <a:lnTo>
                    <a:pt x="28321" y="2151298"/>
                  </a:lnTo>
                  <a:cubicBezTo>
                    <a:pt x="12700" y="2151298"/>
                    <a:pt x="0" y="2136487"/>
                    <a:pt x="0" y="2118270"/>
                  </a:cubicBezTo>
                  <a:close/>
                </a:path>
              </a:pathLst>
            </a:custGeom>
            <a:solidFill>
              <a:srgbClr val="E5DFD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37729" y="1912386"/>
            <a:ext cx="425202" cy="425203"/>
            <a:chOff x="0" y="0"/>
            <a:chExt cx="566937" cy="56693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66928" cy="566928"/>
            </a:xfrm>
            <a:custGeom>
              <a:avLst/>
              <a:gdLst/>
              <a:ahLst/>
              <a:cxnLst/>
              <a:rect l="l" t="t" r="r" b="b"/>
              <a:pathLst>
                <a:path w="566928" h="566928">
                  <a:moveTo>
                    <a:pt x="0" y="283464"/>
                  </a:moveTo>
                  <a:cubicBezTo>
                    <a:pt x="0" y="126873"/>
                    <a:pt x="126873" y="0"/>
                    <a:pt x="283464" y="0"/>
                  </a:cubicBezTo>
                  <a:cubicBezTo>
                    <a:pt x="440055" y="0"/>
                    <a:pt x="566928" y="126873"/>
                    <a:pt x="566928" y="283464"/>
                  </a:cubicBezTo>
                  <a:cubicBezTo>
                    <a:pt x="566928" y="440055"/>
                    <a:pt x="440055" y="566928"/>
                    <a:pt x="283464" y="566928"/>
                  </a:cubicBezTo>
                  <a:cubicBezTo>
                    <a:pt x="126873" y="566928"/>
                    <a:pt x="0" y="440055"/>
                    <a:pt x="0" y="283464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2" name="Freeform 12" descr="preencoded.png"/>
          <p:cNvSpPr/>
          <p:nvPr/>
        </p:nvSpPr>
        <p:spPr>
          <a:xfrm>
            <a:off x="754708" y="2029366"/>
            <a:ext cx="191244" cy="191244"/>
          </a:xfrm>
          <a:custGeom>
            <a:avLst/>
            <a:gdLst/>
            <a:ahLst/>
            <a:cxnLst/>
            <a:rect l="l" t="t" r="r" b="b"/>
            <a:pathLst>
              <a:path w="191244" h="191244">
                <a:moveTo>
                  <a:pt x="0" y="0"/>
                </a:moveTo>
                <a:lnTo>
                  <a:pt x="191243" y="0"/>
                </a:lnTo>
                <a:lnTo>
                  <a:pt x="191243" y="191244"/>
                </a:lnTo>
                <a:lnTo>
                  <a:pt x="0" y="191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7142" b="-7142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3" name="TextBox 13"/>
          <p:cNvSpPr txBox="1"/>
          <p:nvPr/>
        </p:nvSpPr>
        <p:spPr>
          <a:xfrm>
            <a:off x="637729" y="2403412"/>
            <a:ext cx="3477071" cy="343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14"/>
              </a:lnSpc>
            </a:pPr>
            <a:r>
              <a:rPr lang="en-US" sz="2374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Clone Starter Project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7729" y="2776185"/>
            <a:ext cx="8293745" cy="63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6"/>
              </a:lnSpc>
            </a:pPr>
            <a:r>
              <a:rPr lang="en-US" sz="20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Get the foundation code and set up your development environment with all necessary dependencies.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14842" y="1912386"/>
            <a:ext cx="8577114" cy="1622999"/>
            <a:chOff x="0" y="0"/>
            <a:chExt cx="11436152" cy="216399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36096" cy="2163998"/>
            </a:xfrm>
            <a:custGeom>
              <a:avLst/>
              <a:gdLst/>
              <a:ahLst/>
              <a:cxnLst/>
              <a:rect l="l" t="t" r="r" b="b"/>
              <a:pathLst>
                <a:path w="11436096" h="2163998">
                  <a:moveTo>
                    <a:pt x="0" y="33224"/>
                  </a:moveTo>
                  <a:cubicBezTo>
                    <a:pt x="0" y="14898"/>
                    <a:pt x="12700" y="0"/>
                    <a:pt x="28321" y="0"/>
                  </a:cubicBezTo>
                  <a:lnTo>
                    <a:pt x="11407775" y="0"/>
                  </a:lnTo>
                  <a:cubicBezTo>
                    <a:pt x="11423396" y="0"/>
                    <a:pt x="11436096" y="14898"/>
                    <a:pt x="11436096" y="33224"/>
                  </a:cubicBezTo>
                  <a:lnTo>
                    <a:pt x="11436096" y="2130775"/>
                  </a:lnTo>
                  <a:cubicBezTo>
                    <a:pt x="11436096" y="2149100"/>
                    <a:pt x="11423396" y="2163998"/>
                    <a:pt x="11407775" y="2163998"/>
                  </a:cubicBezTo>
                  <a:lnTo>
                    <a:pt x="28321" y="2163998"/>
                  </a:lnTo>
                  <a:cubicBezTo>
                    <a:pt x="12700" y="2163998"/>
                    <a:pt x="0" y="2149100"/>
                    <a:pt x="0" y="2130775"/>
                  </a:cubicBezTo>
                  <a:close/>
                </a:path>
              </a:pathLst>
            </a:custGeom>
            <a:solidFill>
              <a:srgbClr val="E5DFD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356526" y="1912386"/>
            <a:ext cx="425203" cy="425203"/>
            <a:chOff x="0" y="0"/>
            <a:chExt cx="566937" cy="56693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66928" cy="566928"/>
            </a:xfrm>
            <a:custGeom>
              <a:avLst/>
              <a:gdLst/>
              <a:ahLst/>
              <a:cxnLst/>
              <a:rect l="l" t="t" r="r" b="b"/>
              <a:pathLst>
                <a:path w="566928" h="566928">
                  <a:moveTo>
                    <a:pt x="0" y="283464"/>
                  </a:moveTo>
                  <a:cubicBezTo>
                    <a:pt x="0" y="126873"/>
                    <a:pt x="126873" y="0"/>
                    <a:pt x="283464" y="0"/>
                  </a:cubicBezTo>
                  <a:cubicBezTo>
                    <a:pt x="440055" y="0"/>
                    <a:pt x="566928" y="126873"/>
                    <a:pt x="566928" y="283464"/>
                  </a:cubicBezTo>
                  <a:cubicBezTo>
                    <a:pt x="566928" y="440055"/>
                    <a:pt x="440055" y="566928"/>
                    <a:pt x="283464" y="566928"/>
                  </a:cubicBezTo>
                  <a:cubicBezTo>
                    <a:pt x="126873" y="566928"/>
                    <a:pt x="0" y="440055"/>
                    <a:pt x="0" y="283464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9" name="Freeform 19" descr="preencoded.png"/>
          <p:cNvSpPr/>
          <p:nvPr/>
        </p:nvSpPr>
        <p:spPr>
          <a:xfrm>
            <a:off x="9473505" y="2029366"/>
            <a:ext cx="191244" cy="191244"/>
          </a:xfrm>
          <a:custGeom>
            <a:avLst/>
            <a:gdLst/>
            <a:ahLst/>
            <a:cxnLst/>
            <a:rect l="l" t="t" r="r" b="b"/>
            <a:pathLst>
              <a:path w="191244" h="191244">
                <a:moveTo>
                  <a:pt x="0" y="0"/>
                </a:moveTo>
                <a:lnTo>
                  <a:pt x="191244" y="0"/>
                </a:lnTo>
                <a:lnTo>
                  <a:pt x="191244" y="191244"/>
                </a:lnTo>
                <a:lnTo>
                  <a:pt x="0" y="1912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761" r="-4761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0" name="TextBox 20"/>
          <p:cNvSpPr txBox="1"/>
          <p:nvPr/>
        </p:nvSpPr>
        <p:spPr>
          <a:xfrm>
            <a:off x="9356526" y="2413789"/>
            <a:ext cx="3445074" cy="343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14"/>
              </a:lnSpc>
            </a:pPr>
            <a:r>
              <a:rPr lang="en-US" sz="2374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Run Minimal Backend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56526" y="2776185"/>
            <a:ext cx="8293745" cy="63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6"/>
              </a:lnSpc>
              <a:spcBef>
                <a:spcPct val="0"/>
              </a:spcBef>
            </a:pPr>
            <a:r>
              <a:rPr lang="en-US" sz="2062" u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Launch a Node.js server with Express to handle API requests and responses.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496044" y="3729531"/>
            <a:ext cx="8577114" cy="1776440"/>
            <a:chOff x="0" y="0"/>
            <a:chExt cx="11436152" cy="236858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436096" cy="2368587"/>
            </a:xfrm>
            <a:custGeom>
              <a:avLst/>
              <a:gdLst/>
              <a:ahLst/>
              <a:cxnLst/>
              <a:rect l="l" t="t" r="r" b="b"/>
              <a:pathLst>
                <a:path w="11436096" h="2368587">
                  <a:moveTo>
                    <a:pt x="0" y="36365"/>
                  </a:moveTo>
                  <a:cubicBezTo>
                    <a:pt x="0" y="16307"/>
                    <a:pt x="12700" y="0"/>
                    <a:pt x="28321" y="0"/>
                  </a:cubicBezTo>
                  <a:lnTo>
                    <a:pt x="11407775" y="0"/>
                  </a:lnTo>
                  <a:cubicBezTo>
                    <a:pt x="11423396" y="0"/>
                    <a:pt x="11436096" y="16307"/>
                    <a:pt x="11436096" y="36365"/>
                  </a:cubicBezTo>
                  <a:lnTo>
                    <a:pt x="11436096" y="2332223"/>
                  </a:lnTo>
                  <a:cubicBezTo>
                    <a:pt x="11436096" y="2352280"/>
                    <a:pt x="11423396" y="2368587"/>
                    <a:pt x="11407775" y="2368587"/>
                  </a:cubicBezTo>
                  <a:lnTo>
                    <a:pt x="28321" y="2368587"/>
                  </a:lnTo>
                  <a:cubicBezTo>
                    <a:pt x="12700" y="2368587"/>
                    <a:pt x="0" y="2352280"/>
                    <a:pt x="0" y="2332223"/>
                  </a:cubicBezTo>
                  <a:close/>
                </a:path>
              </a:pathLst>
            </a:custGeom>
            <a:solidFill>
              <a:srgbClr val="E5DFD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37729" y="3772320"/>
            <a:ext cx="425202" cy="425203"/>
            <a:chOff x="0" y="0"/>
            <a:chExt cx="566937" cy="56693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66928" cy="566928"/>
            </a:xfrm>
            <a:custGeom>
              <a:avLst/>
              <a:gdLst/>
              <a:ahLst/>
              <a:cxnLst/>
              <a:rect l="l" t="t" r="r" b="b"/>
              <a:pathLst>
                <a:path w="566928" h="566928">
                  <a:moveTo>
                    <a:pt x="0" y="283464"/>
                  </a:moveTo>
                  <a:cubicBezTo>
                    <a:pt x="0" y="126873"/>
                    <a:pt x="126873" y="0"/>
                    <a:pt x="283464" y="0"/>
                  </a:cubicBezTo>
                  <a:cubicBezTo>
                    <a:pt x="440055" y="0"/>
                    <a:pt x="566928" y="126873"/>
                    <a:pt x="566928" y="283464"/>
                  </a:cubicBezTo>
                  <a:cubicBezTo>
                    <a:pt x="566928" y="440055"/>
                    <a:pt x="440055" y="566928"/>
                    <a:pt x="283464" y="566928"/>
                  </a:cubicBezTo>
                  <a:cubicBezTo>
                    <a:pt x="126873" y="566928"/>
                    <a:pt x="0" y="440055"/>
                    <a:pt x="0" y="283464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6" name="Freeform 26" descr="preencoded.png"/>
          <p:cNvSpPr/>
          <p:nvPr/>
        </p:nvSpPr>
        <p:spPr>
          <a:xfrm>
            <a:off x="754708" y="3889298"/>
            <a:ext cx="191244" cy="191244"/>
          </a:xfrm>
          <a:custGeom>
            <a:avLst/>
            <a:gdLst/>
            <a:ahLst/>
            <a:cxnLst/>
            <a:rect l="l" t="t" r="r" b="b"/>
            <a:pathLst>
              <a:path w="191244" h="191244">
                <a:moveTo>
                  <a:pt x="0" y="0"/>
                </a:moveTo>
                <a:lnTo>
                  <a:pt x="191243" y="0"/>
                </a:lnTo>
                <a:lnTo>
                  <a:pt x="191243" y="191244"/>
                </a:lnTo>
                <a:lnTo>
                  <a:pt x="0" y="1912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27" name="TextBox 27"/>
          <p:cNvSpPr txBox="1"/>
          <p:nvPr/>
        </p:nvSpPr>
        <p:spPr>
          <a:xfrm>
            <a:off x="637729" y="4263344"/>
            <a:ext cx="2593479" cy="36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4"/>
              </a:lnSpc>
            </a:pPr>
            <a:r>
              <a:rPr lang="en-US" sz="2374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Connect MongoDB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7728" y="4752857"/>
            <a:ext cx="8293745" cy="63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6"/>
              </a:lnSpc>
              <a:spcBef>
                <a:spcPct val="0"/>
              </a:spcBef>
            </a:pPr>
            <a:r>
              <a:rPr lang="en-US" sz="2062" u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Establish connection to a test database and verify your data persistence layer.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214842" y="3753777"/>
            <a:ext cx="8577114" cy="1783734"/>
            <a:chOff x="0" y="0"/>
            <a:chExt cx="11436152" cy="237831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436096" cy="2378311"/>
            </a:xfrm>
            <a:custGeom>
              <a:avLst/>
              <a:gdLst/>
              <a:ahLst/>
              <a:cxnLst/>
              <a:rect l="l" t="t" r="r" b="b"/>
              <a:pathLst>
                <a:path w="11436096" h="2378311">
                  <a:moveTo>
                    <a:pt x="0" y="36514"/>
                  </a:moveTo>
                  <a:cubicBezTo>
                    <a:pt x="0" y="16374"/>
                    <a:pt x="12700" y="0"/>
                    <a:pt x="28321" y="0"/>
                  </a:cubicBezTo>
                  <a:lnTo>
                    <a:pt x="11407775" y="0"/>
                  </a:lnTo>
                  <a:cubicBezTo>
                    <a:pt x="11423396" y="0"/>
                    <a:pt x="11436096" y="16374"/>
                    <a:pt x="11436096" y="36514"/>
                  </a:cubicBezTo>
                  <a:lnTo>
                    <a:pt x="11436096" y="2341798"/>
                  </a:lnTo>
                  <a:cubicBezTo>
                    <a:pt x="11436096" y="2361937"/>
                    <a:pt x="11423396" y="2378311"/>
                    <a:pt x="11407775" y="2378311"/>
                  </a:cubicBezTo>
                  <a:lnTo>
                    <a:pt x="28321" y="2378311"/>
                  </a:lnTo>
                  <a:cubicBezTo>
                    <a:pt x="12700" y="2378311"/>
                    <a:pt x="0" y="2361937"/>
                    <a:pt x="0" y="2341798"/>
                  </a:cubicBezTo>
                  <a:close/>
                </a:path>
              </a:pathLst>
            </a:custGeom>
            <a:solidFill>
              <a:srgbClr val="E5DFD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356526" y="3772320"/>
            <a:ext cx="425203" cy="425203"/>
            <a:chOff x="0" y="0"/>
            <a:chExt cx="566937" cy="56693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66928" cy="566928"/>
            </a:xfrm>
            <a:custGeom>
              <a:avLst/>
              <a:gdLst/>
              <a:ahLst/>
              <a:cxnLst/>
              <a:rect l="l" t="t" r="r" b="b"/>
              <a:pathLst>
                <a:path w="566928" h="566928">
                  <a:moveTo>
                    <a:pt x="0" y="283464"/>
                  </a:moveTo>
                  <a:cubicBezTo>
                    <a:pt x="0" y="126873"/>
                    <a:pt x="126873" y="0"/>
                    <a:pt x="283464" y="0"/>
                  </a:cubicBezTo>
                  <a:cubicBezTo>
                    <a:pt x="440055" y="0"/>
                    <a:pt x="566928" y="126873"/>
                    <a:pt x="566928" y="283464"/>
                  </a:cubicBezTo>
                  <a:cubicBezTo>
                    <a:pt x="566928" y="440055"/>
                    <a:pt x="440055" y="566928"/>
                    <a:pt x="283464" y="566928"/>
                  </a:cubicBezTo>
                  <a:cubicBezTo>
                    <a:pt x="126873" y="566928"/>
                    <a:pt x="0" y="440055"/>
                    <a:pt x="0" y="283464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33" name="Freeform 33" descr="preencoded.png"/>
          <p:cNvSpPr/>
          <p:nvPr/>
        </p:nvSpPr>
        <p:spPr>
          <a:xfrm>
            <a:off x="9473505" y="3889298"/>
            <a:ext cx="191244" cy="191244"/>
          </a:xfrm>
          <a:custGeom>
            <a:avLst/>
            <a:gdLst/>
            <a:ahLst/>
            <a:cxnLst/>
            <a:rect l="l" t="t" r="r" b="b"/>
            <a:pathLst>
              <a:path w="191244" h="191244">
                <a:moveTo>
                  <a:pt x="0" y="0"/>
                </a:moveTo>
                <a:lnTo>
                  <a:pt x="191244" y="0"/>
                </a:lnTo>
                <a:lnTo>
                  <a:pt x="191244" y="191244"/>
                </a:lnTo>
                <a:lnTo>
                  <a:pt x="0" y="1912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380" r="-2380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4" name="TextBox 34"/>
          <p:cNvSpPr txBox="1"/>
          <p:nvPr/>
        </p:nvSpPr>
        <p:spPr>
          <a:xfrm>
            <a:off x="9356526" y="4272869"/>
            <a:ext cx="2094012" cy="36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4"/>
              </a:lnSpc>
            </a:pPr>
            <a:r>
              <a:rPr lang="en-US" sz="2374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Modify Schema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356526" y="4752857"/>
            <a:ext cx="8293745" cy="63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6"/>
              </a:lnSpc>
              <a:spcBef>
                <a:spcPct val="0"/>
              </a:spcBef>
            </a:pPr>
            <a:r>
              <a:rPr lang="en-US" sz="2062" u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Add custom fields like "notes" to your Mongoose model and understand data structure.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496044" y="5671543"/>
            <a:ext cx="8577114" cy="1910507"/>
            <a:chOff x="0" y="0"/>
            <a:chExt cx="11436152" cy="254734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436096" cy="2547343"/>
            </a:xfrm>
            <a:custGeom>
              <a:avLst/>
              <a:gdLst/>
              <a:ahLst/>
              <a:cxnLst/>
              <a:rect l="l" t="t" r="r" b="b"/>
              <a:pathLst>
                <a:path w="11436096" h="2547343">
                  <a:moveTo>
                    <a:pt x="0" y="39109"/>
                  </a:moveTo>
                  <a:cubicBezTo>
                    <a:pt x="0" y="17538"/>
                    <a:pt x="12700" y="0"/>
                    <a:pt x="28321" y="0"/>
                  </a:cubicBezTo>
                  <a:lnTo>
                    <a:pt x="11407775" y="0"/>
                  </a:lnTo>
                  <a:cubicBezTo>
                    <a:pt x="11423396" y="0"/>
                    <a:pt x="11436096" y="17538"/>
                    <a:pt x="11436096" y="39109"/>
                  </a:cubicBezTo>
                  <a:lnTo>
                    <a:pt x="11436096" y="2508234"/>
                  </a:lnTo>
                  <a:cubicBezTo>
                    <a:pt x="11436096" y="2529805"/>
                    <a:pt x="11423396" y="2547343"/>
                    <a:pt x="11407775" y="2547343"/>
                  </a:cubicBezTo>
                  <a:lnTo>
                    <a:pt x="28321" y="2547343"/>
                  </a:lnTo>
                  <a:cubicBezTo>
                    <a:pt x="12700" y="2547343"/>
                    <a:pt x="0" y="2529805"/>
                    <a:pt x="0" y="2508234"/>
                  </a:cubicBezTo>
                  <a:close/>
                </a:path>
              </a:pathLst>
            </a:custGeom>
            <a:solidFill>
              <a:srgbClr val="E5DFD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37729" y="5813227"/>
            <a:ext cx="425202" cy="425202"/>
            <a:chOff x="0" y="0"/>
            <a:chExt cx="566937" cy="566937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66928" cy="566928"/>
            </a:xfrm>
            <a:custGeom>
              <a:avLst/>
              <a:gdLst/>
              <a:ahLst/>
              <a:cxnLst/>
              <a:rect l="l" t="t" r="r" b="b"/>
              <a:pathLst>
                <a:path w="566928" h="566928">
                  <a:moveTo>
                    <a:pt x="0" y="283464"/>
                  </a:moveTo>
                  <a:cubicBezTo>
                    <a:pt x="0" y="126873"/>
                    <a:pt x="126873" y="0"/>
                    <a:pt x="283464" y="0"/>
                  </a:cubicBezTo>
                  <a:cubicBezTo>
                    <a:pt x="440055" y="0"/>
                    <a:pt x="566928" y="126873"/>
                    <a:pt x="566928" y="283464"/>
                  </a:cubicBezTo>
                  <a:cubicBezTo>
                    <a:pt x="566928" y="440055"/>
                    <a:pt x="440055" y="566928"/>
                    <a:pt x="283464" y="566928"/>
                  </a:cubicBezTo>
                  <a:cubicBezTo>
                    <a:pt x="126873" y="566928"/>
                    <a:pt x="0" y="440055"/>
                    <a:pt x="0" y="283464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0" name="Freeform 40" descr="preencoded.png"/>
          <p:cNvSpPr/>
          <p:nvPr/>
        </p:nvSpPr>
        <p:spPr>
          <a:xfrm>
            <a:off x="754708" y="5930207"/>
            <a:ext cx="191244" cy="191244"/>
          </a:xfrm>
          <a:custGeom>
            <a:avLst/>
            <a:gdLst/>
            <a:ahLst/>
            <a:cxnLst/>
            <a:rect l="l" t="t" r="r" b="b"/>
            <a:pathLst>
              <a:path w="191244" h="191244">
                <a:moveTo>
                  <a:pt x="0" y="0"/>
                </a:moveTo>
                <a:lnTo>
                  <a:pt x="191243" y="0"/>
                </a:lnTo>
                <a:lnTo>
                  <a:pt x="191243" y="191244"/>
                </a:lnTo>
                <a:lnTo>
                  <a:pt x="0" y="1912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4761" b="-4761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1" name="TextBox 41"/>
          <p:cNvSpPr txBox="1"/>
          <p:nvPr/>
        </p:nvSpPr>
        <p:spPr>
          <a:xfrm>
            <a:off x="637728" y="6370589"/>
            <a:ext cx="3248471" cy="343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14"/>
              </a:lnSpc>
            </a:pPr>
            <a:r>
              <a:rPr lang="en-US" sz="2374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Create Angular Input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7729" y="6743363"/>
            <a:ext cx="8293745" cy="39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7"/>
              </a:lnSpc>
            </a:pPr>
            <a:r>
              <a:rPr lang="en-US" sz="2062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Build a new form field in your frontend to capture user data effectively.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214842" y="5671543"/>
            <a:ext cx="8435429" cy="1910507"/>
            <a:chOff x="0" y="0"/>
            <a:chExt cx="11436152" cy="259012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1436096" cy="2590129"/>
            </a:xfrm>
            <a:custGeom>
              <a:avLst/>
              <a:gdLst/>
              <a:ahLst/>
              <a:cxnLst/>
              <a:rect l="l" t="t" r="r" b="b"/>
              <a:pathLst>
                <a:path w="11436096" h="2590129">
                  <a:moveTo>
                    <a:pt x="0" y="39766"/>
                  </a:moveTo>
                  <a:cubicBezTo>
                    <a:pt x="0" y="17832"/>
                    <a:pt x="12700" y="0"/>
                    <a:pt x="28321" y="0"/>
                  </a:cubicBezTo>
                  <a:lnTo>
                    <a:pt x="11407775" y="0"/>
                  </a:lnTo>
                  <a:cubicBezTo>
                    <a:pt x="11423396" y="0"/>
                    <a:pt x="11436096" y="17832"/>
                    <a:pt x="11436096" y="39766"/>
                  </a:cubicBezTo>
                  <a:lnTo>
                    <a:pt x="11436096" y="2550363"/>
                  </a:lnTo>
                  <a:cubicBezTo>
                    <a:pt x="11436096" y="2572296"/>
                    <a:pt x="11423396" y="2590129"/>
                    <a:pt x="11407775" y="2590129"/>
                  </a:cubicBezTo>
                  <a:lnTo>
                    <a:pt x="28321" y="2590129"/>
                  </a:lnTo>
                  <a:cubicBezTo>
                    <a:pt x="12700" y="2590129"/>
                    <a:pt x="0" y="2572296"/>
                    <a:pt x="0" y="2550363"/>
                  </a:cubicBezTo>
                  <a:close/>
                </a:path>
              </a:pathLst>
            </a:custGeom>
            <a:solidFill>
              <a:srgbClr val="E5DFD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356526" y="5813227"/>
            <a:ext cx="425203" cy="425202"/>
            <a:chOff x="0" y="0"/>
            <a:chExt cx="566937" cy="56693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66928" cy="566928"/>
            </a:xfrm>
            <a:custGeom>
              <a:avLst/>
              <a:gdLst/>
              <a:ahLst/>
              <a:cxnLst/>
              <a:rect l="l" t="t" r="r" b="b"/>
              <a:pathLst>
                <a:path w="566928" h="566928">
                  <a:moveTo>
                    <a:pt x="0" y="283464"/>
                  </a:moveTo>
                  <a:cubicBezTo>
                    <a:pt x="0" y="126873"/>
                    <a:pt x="126873" y="0"/>
                    <a:pt x="283464" y="0"/>
                  </a:cubicBezTo>
                  <a:cubicBezTo>
                    <a:pt x="440055" y="0"/>
                    <a:pt x="566928" y="126873"/>
                    <a:pt x="566928" y="283464"/>
                  </a:cubicBezTo>
                  <a:cubicBezTo>
                    <a:pt x="566928" y="440055"/>
                    <a:pt x="440055" y="566928"/>
                    <a:pt x="283464" y="566928"/>
                  </a:cubicBezTo>
                  <a:cubicBezTo>
                    <a:pt x="126873" y="566928"/>
                    <a:pt x="0" y="440055"/>
                    <a:pt x="0" y="283464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7" name="Freeform 47" descr="preencoded.png"/>
          <p:cNvSpPr/>
          <p:nvPr/>
        </p:nvSpPr>
        <p:spPr>
          <a:xfrm>
            <a:off x="9473505" y="5930207"/>
            <a:ext cx="191244" cy="191244"/>
          </a:xfrm>
          <a:custGeom>
            <a:avLst/>
            <a:gdLst/>
            <a:ahLst/>
            <a:cxnLst/>
            <a:rect l="l" t="t" r="r" b="b"/>
            <a:pathLst>
              <a:path w="191244" h="191244">
                <a:moveTo>
                  <a:pt x="0" y="0"/>
                </a:moveTo>
                <a:lnTo>
                  <a:pt x="191244" y="0"/>
                </a:lnTo>
                <a:lnTo>
                  <a:pt x="191244" y="191244"/>
                </a:lnTo>
                <a:lnTo>
                  <a:pt x="0" y="1912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4761" r="-4761"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8" name="TextBox 48"/>
          <p:cNvSpPr txBox="1"/>
          <p:nvPr/>
        </p:nvSpPr>
        <p:spPr>
          <a:xfrm>
            <a:off x="9356526" y="6285202"/>
            <a:ext cx="2611934" cy="363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4"/>
              </a:lnSpc>
            </a:pPr>
            <a:r>
              <a:rPr lang="en-US" sz="2374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Test POST Request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356526" y="6733838"/>
            <a:ext cx="8293745" cy="63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16"/>
              </a:lnSpc>
              <a:spcBef>
                <a:spcPct val="0"/>
              </a:spcBef>
            </a:pPr>
            <a:r>
              <a:rPr lang="en-US" sz="2062" u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Send data to your API and verify the complete data flow from frontend to database.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96044" y="7841308"/>
            <a:ext cx="3009156" cy="389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31"/>
              </a:lnSpc>
            </a:pPr>
            <a:r>
              <a:rPr lang="en-US" sz="2624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What You'll Gain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96044" y="8172600"/>
            <a:ext cx="9285685" cy="446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0800" lvl="1" indent="-170400" algn="l">
              <a:lnSpc>
                <a:spcPts val="3721"/>
              </a:lnSpc>
              <a:buFont typeface="Arial"/>
              <a:buChar char="•"/>
            </a:pPr>
            <a:r>
              <a:rPr lang="en-US" sz="225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Confidence with full-stack development workflow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96044" y="8513923"/>
            <a:ext cx="9285685" cy="446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0800" lvl="1" indent="-170400" algn="l">
              <a:lnSpc>
                <a:spcPts val="3721"/>
              </a:lnSpc>
              <a:buFont typeface="Arial"/>
              <a:buChar char="•"/>
            </a:pPr>
            <a:r>
              <a:rPr lang="en-US" sz="225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Hands-on experience building and consuming real APIs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96044" y="8869352"/>
            <a:ext cx="9285685" cy="446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0800" lvl="1" indent="-170400" algn="l">
              <a:lnSpc>
                <a:spcPts val="3721"/>
              </a:lnSpc>
              <a:buFont typeface="Arial"/>
              <a:buChar char="•"/>
            </a:pPr>
            <a:r>
              <a:rPr lang="en-US" sz="225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Deep understanding of Mongoose models and schemas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96044" y="9210675"/>
            <a:ext cx="9285685" cy="446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0800" lvl="1" indent="-170400" algn="l">
              <a:lnSpc>
                <a:spcPts val="3721"/>
              </a:lnSpc>
              <a:buFont typeface="Arial"/>
              <a:buChar char="•"/>
            </a:pPr>
            <a:r>
              <a:rPr lang="en-US" sz="2259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Practical Angular data-binding and form handling skills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59470" y="568077"/>
            <a:ext cx="8177957" cy="705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49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Common Challenges &amp; Solutions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9470" y="1632496"/>
            <a:ext cx="16769060" cy="744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6"/>
              </a:lnSpc>
            </a:pPr>
            <a:r>
              <a:rPr lang="en-US" sz="18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We've prepared comprehensive troubleshooting guidance in the README to help you overcome common hurdles. Don't worry—these issues are normal and we'll help you through them!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45182" y="2632621"/>
            <a:ext cx="5473601" cy="2854226"/>
            <a:chOff x="0" y="0"/>
            <a:chExt cx="7298135" cy="3805635"/>
          </a:xfrm>
        </p:grpSpPr>
        <p:sp>
          <p:nvSpPr>
            <p:cNvPr id="9" name="Freeform 9"/>
            <p:cNvSpPr/>
            <p:nvPr/>
          </p:nvSpPr>
          <p:spPr>
            <a:xfrm>
              <a:off x="19050" y="19050"/>
              <a:ext cx="7260082" cy="3767582"/>
            </a:xfrm>
            <a:custGeom>
              <a:avLst/>
              <a:gdLst/>
              <a:ahLst/>
              <a:cxnLst/>
              <a:rect l="l" t="t" r="r" b="b"/>
              <a:pathLst>
                <a:path w="7260082" h="3767582">
                  <a:moveTo>
                    <a:pt x="0" y="182880"/>
                  </a:moveTo>
                  <a:cubicBezTo>
                    <a:pt x="0" y="81915"/>
                    <a:pt x="82296" y="0"/>
                    <a:pt x="183769" y="0"/>
                  </a:cubicBezTo>
                  <a:lnTo>
                    <a:pt x="7076313" y="0"/>
                  </a:lnTo>
                  <a:cubicBezTo>
                    <a:pt x="7177786" y="0"/>
                    <a:pt x="7260082" y="81915"/>
                    <a:pt x="7260082" y="182880"/>
                  </a:cubicBezTo>
                  <a:lnTo>
                    <a:pt x="7260082" y="3584702"/>
                  </a:lnTo>
                  <a:cubicBezTo>
                    <a:pt x="7260082" y="3685667"/>
                    <a:pt x="7177786" y="3767582"/>
                    <a:pt x="7076313" y="3767582"/>
                  </a:cubicBezTo>
                  <a:lnTo>
                    <a:pt x="183769" y="3767582"/>
                  </a:lnTo>
                  <a:cubicBezTo>
                    <a:pt x="82296" y="3767582"/>
                    <a:pt x="0" y="3685667"/>
                    <a:pt x="0" y="3584702"/>
                  </a:cubicBez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7298182" cy="3805682"/>
            </a:xfrm>
            <a:custGeom>
              <a:avLst/>
              <a:gdLst/>
              <a:ahLst/>
              <a:cxnLst/>
              <a:rect l="l" t="t" r="r" b="b"/>
              <a:pathLst>
                <a:path w="7298182" h="3805682">
                  <a:moveTo>
                    <a:pt x="0" y="201930"/>
                  </a:moveTo>
                  <a:cubicBezTo>
                    <a:pt x="0" y="90297"/>
                    <a:pt x="90932" y="0"/>
                    <a:pt x="202819" y="0"/>
                  </a:cubicBezTo>
                  <a:lnTo>
                    <a:pt x="7095363" y="0"/>
                  </a:lnTo>
                  <a:lnTo>
                    <a:pt x="7095363" y="19050"/>
                  </a:lnTo>
                  <a:lnTo>
                    <a:pt x="7095363" y="0"/>
                  </a:lnTo>
                  <a:cubicBezTo>
                    <a:pt x="7207250" y="0"/>
                    <a:pt x="7298182" y="90297"/>
                    <a:pt x="7298182" y="201930"/>
                  </a:cubicBezTo>
                  <a:lnTo>
                    <a:pt x="7279132" y="201930"/>
                  </a:lnTo>
                  <a:lnTo>
                    <a:pt x="7298182" y="201930"/>
                  </a:lnTo>
                  <a:lnTo>
                    <a:pt x="7298182" y="3603752"/>
                  </a:lnTo>
                  <a:lnTo>
                    <a:pt x="7279132" y="3603752"/>
                  </a:lnTo>
                  <a:lnTo>
                    <a:pt x="7298182" y="3603752"/>
                  </a:lnTo>
                  <a:cubicBezTo>
                    <a:pt x="7298182" y="3715385"/>
                    <a:pt x="7207250" y="3805682"/>
                    <a:pt x="7095363" y="3805682"/>
                  </a:cubicBezTo>
                  <a:lnTo>
                    <a:pt x="7095363" y="3786632"/>
                  </a:lnTo>
                  <a:lnTo>
                    <a:pt x="7095363" y="3805682"/>
                  </a:lnTo>
                  <a:lnTo>
                    <a:pt x="202819" y="3805682"/>
                  </a:lnTo>
                  <a:lnTo>
                    <a:pt x="202819" y="3786632"/>
                  </a:lnTo>
                  <a:lnTo>
                    <a:pt x="202819" y="3805682"/>
                  </a:lnTo>
                  <a:cubicBezTo>
                    <a:pt x="90932" y="3805682"/>
                    <a:pt x="0" y="3715258"/>
                    <a:pt x="0" y="360375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603752"/>
                  </a:lnTo>
                  <a:lnTo>
                    <a:pt x="19050" y="3603752"/>
                  </a:lnTo>
                  <a:lnTo>
                    <a:pt x="38100" y="3603752"/>
                  </a:lnTo>
                  <a:cubicBezTo>
                    <a:pt x="38100" y="3694176"/>
                    <a:pt x="111760" y="3767582"/>
                    <a:pt x="202819" y="3767582"/>
                  </a:cubicBezTo>
                  <a:lnTo>
                    <a:pt x="7095363" y="3767582"/>
                  </a:lnTo>
                  <a:cubicBezTo>
                    <a:pt x="7186422" y="3767582"/>
                    <a:pt x="7260082" y="3694176"/>
                    <a:pt x="7260082" y="3603752"/>
                  </a:cubicBezTo>
                  <a:lnTo>
                    <a:pt x="7260082" y="201930"/>
                  </a:lnTo>
                  <a:cubicBezTo>
                    <a:pt x="7260082" y="111506"/>
                    <a:pt x="7186422" y="38100"/>
                    <a:pt x="7095363" y="38100"/>
                  </a:cubicBezTo>
                  <a:lnTo>
                    <a:pt x="202819" y="38100"/>
                  </a:lnTo>
                  <a:lnTo>
                    <a:pt x="202819" y="19050"/>
                  </a:lnTo>
                  <a:lnTo>
                    <a:pt x="202819" y="38100"/>
                  </a:lnTo>
                  <a:cubicBezTo>
                    <a:pt x="111760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30895" y="2646909"/>
            <a:ext cx="114300" cy="2825651"/>
            <a:chOff x="0" y="0"/>
            <a:chExt cx="152400" cy="37675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2400" cy="3767582"/>
            </a:xfrm>
            <a:custGeom>
              <a:avLst/>
              <a:gdLst/>
              <a:ahLst/>
              <a:cxnLst/>
              <a:rect l="l" t="t" r="r" b="b"/>
              <a:pathLst>
                <a:path w="152400" h="3767582">
                  <a:moveTo>
                    <a:pt x="0" y="43434"/>
                  </a:moveTo>
                  <a:cubicBezTo>
                    <a:pt x="0" y="19431"/>
                    <a:pt x="19431" y="0"/>
                    <a:pt x="43434" y="0"/>
                  </a:cubicBezTo>
                  <a:lnTo>
                    <a:pt x="108966" y="0"/>
                  </a:lnTo>
                  <a:cubicBezTo>
                    <a:pt x="132969" y="0"/>
                    <a:pt x="152400" y="19431"/>
                    <a:pt x="152400" y="43434"/>
                  </a:cubicBezTo>
                  <a:lnTo>
                    <a:pt x="152400" y="3724148"/>
                  </a:lnTo>
                  <a:cubicBezTo>
                    <a:pt x="152400" y="3748151"/>
                    <a:pt x="132969" y="3767582"/>
                    <a:pt x="108966" y="3767582"/>
                  </a:cubicBezTo>
                  <a:lnTo>
                    <a:pt x="43434" y="3767582"/>
                  </a:lnTo>
                  <a:cubicBezTo>
                    <a:pt x="19431" y="3767582"/>
                    <a:pt x="0" y="3748151"/>
                    <a:pt x="0" y="3724148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90761" y="2873426"/>
            <a:ext cx="2033439" cy="342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2325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CORS Errors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0761" y="3285381"/>
            <a:ext cx="4868168" cy="744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6"/>
              </a:lnSpc>
            </a:pPr>
            <a:r>
              <a:rPr lang="en-US" sz="18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Issue:</a:t>
            </a:r>
            <a:r>
              <a:rPr lang="en-US" sz="18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Browser blocks requests between different origins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0761" y="4109591"/>
            <a:ext cx="4868168" cy="1125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6"/>
              </a:lnSpc>
            </a:pPr>
            <a:r>
              <a:rPr lang="en-US" sz="18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Solution:</a:t>
            </a:r>
            <a:r>
              <a:rPr lang="en-US" sz="18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Configure CORS middleware properly in Express to allow cross-origin requests from your Angular app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407200" y="2632621"/>
            <a:ext cx="5473601" cy="2854226"/>
            <a:chOff x="0" y="0"/>
            <a:chExt cx="7298135" cy="3805635"/>
          </a:xfrm>
        </p:grpSpPr>
        <p:sp>
          <p:nvSpPr>
            <p:cNvPr id="17" name="Freeform 17"/>
            <p:cNvSpPr/>
            <p:nvPr/>
          </p:nvSpPr>
          <p:spPr>
            <a:xfrm>
              <a:off x="19050" y="19050"/>
              <a:ext cx="7260082" cy="3767582"/>
            </a:xfrm>
            <a:custGeom>
              <a:avLst/>
              <a:gdLst/>
              <a:ahLst/>
              <a:cxnLst/>
              <a:rect l="l" t="t" r="r" b="b"/>
              <a:pathLst>
                <a:path w="7260082" h="3767582">
                  <a:moveTo>
                    <a:pt x="0" y="182880"/>
                  </a:moveTo>
                  <a:cubicBezTo>
                    <a:pt x="0" y="81915"/>
                    <a:pt x="82296" y="0"/>
                    <a:pt x="183769" y="0"/>
                  </a:cubicBezTo>
                  <a:lnTo>
                    <a:pt x="7076313" y="0"/>
                  </a:lnTo>
                  <a:cubicBezTo>
                    <a:pt x="7177786" y="0"/>
                    <a:pt x="7260082" y="81915"/>
                    <a:pt x="7260082" y="182880"/>
                  </a:cubicBezTo>
                  <a:lnTo>
                    <a:pt x="7260082" y="3584702"/>
                  </a:lnTo>
                  <a:cubicBezTo>
                    <a:pt x="7260082" y="3685667"/>
                    <a:pt x="7177786" y="3767582"/>
                    <a:pt x="7076313" y="3767582"/>
                  </a:cubicBezTo>
                  <a:lnTo>
                    <a:pt x="183769" y="3767582"/>
                  </a:lnTo>
                  <a:cubicBezTo>
                    <a:pt x="82296" y="3767582"/>
                    <a:pt x="0" y="3685667"/>
                    <a:pt x="0" y="3584702"/>
                  </a:cubicBez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7298182" cy="3805682"/>
            </a:xfrm>
            <a:custGeom>
              <a:avLst/>
              <a:gdLst/>
              <a:ahLst/>
              <a:cxnLst/>
              <a:rect l="l" t="t" r="r" b="b"/>
              <a:pathLst>
                <a:path w="7298182" h="3805682">
                  <a:moveTo>
                    <a:pt x="0" y="201930"/>
                  </a:moveTo>
                  <a:cubicBezTo>
                    <a:pt x="0" y="90297"/>
                    <a:pt x="90932" y="0"/>
                    <a:pt x="202819" y="0"/>
                  </a:cubicBezTo>
                  <a:lnTo>
                    <a:pt x="7095363" y="0"/>
                  </a:lnTo>
                  <a:lnTo>
                    <a:pt x="7095363" y="19050"/>
                  </a:lnTo>
                  <a:lnTo>
                    <a:pt x="7095363" y="0"/>
                  </a:lnTo>
                  <a:cubicBezTo>
                    <a:pt x="7207250" y="0"/>
                    <a:pt x="7298182" y="90297"/>
                    <a:pt x="7298182" y="201930"/>
                  </a:cubicBezTo>
                  <a:lnTo>
                    <a:pt x="7279132" y="201930"/>
                  </a:lnTo>
                  <a:lnTo>
                    <a:pt x="7298182" y="201930"/>
                  </a:lnTo>
                  <a:lnTo>
                    <a:pt x="7298182" y="3603752"/>
                  </a:lnTo>
                  <a:lnTo>
                    <a:pt x="7279132" y="3603752"/>
                  </a:lnTo>
                  <a:lnTo>
                    <a:pt x="7298182" y="3603752"/>
                  </a:lnTo>
                  <a:cubicBezTo>
                    <a:pt x="7298182" y="3715385"/>
                    <a:pt x="7207250" y="3805682"/>
                    <a:pt x="7095363" y="3805682"/>
                  </a:cubicBezTo>
                  <a:lnTo>
                    <a:pt x="7095363" y="3786632"/>
                  </a:lnTo>
                  <a:lnTo>
                    <a:pt x="7095363" y="3805682"/>
                  </a:lnTo>
                  <a:lnTo>
                    <a:pt x="202819" y="3805682"/>
                  </a:lnTo>
                  <a:lnTo>
                    <a:pt x="202819" y="3786632"/>
                  </a:lnTo>
                  <a:lnTo>
                    <a:pt x="202819" y="3805682"/>
                  </a:lnTo>
                  <a:cubicBezTo>
                    <a:pt x="90932" y="3805682"/>
                    <a:pt x="0" y="3715258"/>
                    <a:pt x="0" y="360375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603752"/>
                  </a:lnTo>
                  <a:lnTo>
                    <a:pt x="19050" y="3603752"/>
                  </a:lnTo>
                  <a:lnTo>
                    <a:pt x="38100" y="3603752"/>
                  </a:lnTo>
                  <a:cubicBezTo>
                    <a:pt x="38100" y="3694176"/>
                    <a:pt x="111760" y="3767582"/>
                    <a:pt x="202819" y="3767582"/>
                  </a:cubicBezTo>
                  <a:lnTo>
                    <a:pt x="7095363" y="3767582"/>
                  </a:lnTo>
                  <a:cubicBezTo>
                    <a:pt x="7186422" y="3767582"/>
                    <a:pt x="7260082" y="3694176"/>
                    <a:pt x="7260082" y="3603752"/>
                  </a:cubicBezTo>
                  <a:lnTo>
                    <a:pt x="7260082" y="201930"/>
                  </a:lnTo>
                  <a:cubicBezTo>
                    <a:pt x="7260082" y="111506"/>
                    <a:pt x="7186422" y="38100"/>
                    <a:pt x="7095363" y="38100"/>
                  </a:cubicBezTo>
                  <a:lnTo>
                    <a:pt x="202819" y="38100"/>
                  </a:lnTo>
                  <a:lnTo>
                    <a:pt x="202819" y="19050"/>
                  </a:lnTo>
                  <a:lnTo>
                    <a:pt x="202819" y="38100"/>
                  </a:lnTo>
                  <a:cubicBezTo>
                    <a:pt x="111760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92912" y="2646909"/>
            <a:ext cx="114300" cy="2825651"/>
            <a:chOff x="0" y="0"/>
            <a:chExt cx="152400" cy="376753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2400" cy="3767582"/>
            </a:xfrm>
            <a:custGeom>
              <a:avLst/>
              <a:gdLst/>
              <a:ahLst/>
              <a:cxnLst/>
              <a:rect l="l" t="t" r="r" b="b"/>
              <a:pathLst>
                <a:path w="152400" h="3767582">
                  <a:moveTo>
                    <a:pt x="0" y="43434"/>
                  </a:moveTo>
                  <a:cubicBezTo>
                    <a:pt x="0" y="19431"/>
                    <a:pt x="19431" y="0"/>
                    <a:pt x="43434" y="0"/>
                  </a:cubicBezTo>
                  <a:lnTo>
                    <a:pt x="108966" y="0"/>
                  </a:lnTo>
                  <a:cubicBezTo>
                    <a:pt x="132969" y="0"/>
                    <a:pt x="152400" y="19431"/>
                    <a:pt x="152400" y="43434"/>
                  </a:cubicBezTo>
                  <a:lnTo>
                    <a:pt x="152400" y="3724148"/>
                  </a:lnTo>
                  <a:cubicBezTo>
                    <a:pt x="152400" y="3748151"/>
                    <a:pt x="132969" y="3767582"/>
                    <a:pt x="108966" y="3767582"/>
                  </a:cubicBezTo>
                  <a:lnTo>
                    <a:pt x="43434" y="3767582"/>
                  </a:lnTo>
                  <a:cubicBezTo>
                    <a:pt x="19431" y="3767582"/>
                    <a:pt x="0" y="3748151"/>
                    <a:pt x="0" y="3724148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752779" y="2873425"/>
            <a:ext cx="3000821" cy="342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2325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API URL Mismatches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52779" y="3285381"/>
            <a:ext cx="4868168" cy="36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6"/>
              </a:lnSpc>
            </a:pPr>
            <a:r>
              <a:rPr lang="en-US" sz="18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Issue:</a:t>
            </a:r>
            <a:r>
              <a:rPr lang="en-US" sz="18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Frontend can't find backend endpoints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52779" y="3762524"/>
            <a:ext cx="4868168" cy="1125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6"/>
              </a:lnSpc>
            </a:pPr>
            <a:r>
              <a:rPr lang="en-US" sz="18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Solution:</a:t>
            </a:r>
            <a:r>
              <a:rPr lang="en-US" sz="18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Double-check your environment variables and ensure API base URLs match between frontend and backend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069216" y="2632621"/>
            <a:ext cx="5473601" cy="2854226"/>
            <a:chOff x="0" y="0"/>
            <a:chExt cx="7298135" cy="3805635"/>
          </a:xfrm>
        </p:grpSpPr>
        <p:sp>
          <p:nvSpPr>
            <p:cNvPr id="25" name="Freeform 25"/>
            <p:cNvSpPr/>
            <p:nvPr/>
          </p:nvSpPr>
          <p:spPr>
            <a:xfrm>
              <a:off x="19050" y="19050"/>
              <a:ext cx="7260082" cy="3767582"/>
            </a:xfrm>
            <a:custGeom>
              <a:avLst/>
              <a:gdLst/>
              <a:ahLst/>
              <a:cxnLst/>
              <a:rect l="l" t="t" r="r" b="b"/>
              <a:pathLst>
                <a:path w="7260082" h="3767582">
                  <a:moveTo>
                    <a:pt x="0" y="182880"/>
                  </a:moveTo>
                  <a:cubicBezTo>
                    <a:pt x="0" y="81915"/>
                    <a:pt x="82296" y="0"/>
                    <a:pt x="183769" y="0"/>
                  </a:cubicBezTo>
                  <a:lnTo>
                    <a:pt x="7076313" y="0"/>
                  </a:lnTo>
                  <a:cubicBezTo>
                    <a:pt x="7177786" y="0"/>
                    <a:pt x="7260082" y="81915"/>
                    <a:pt x="7260082" y="182880"/>
                  </a:cubicBezTo>
                  <a:lnTo>
                    <a:pt x="7260082" y="3584702"/>
                  </a:lnTo>
                  <a:cubicBezTo>
                    <a:pt x="7260082" y="3685667"/>
                    <a:pt x="7177786" y="3767582"/>
                    <a:pt x="7076313" y="3767582"/>
                  </a:cubicBezTo>
                  <a:lnTo>
                    <a:pt x="183769" y="3767582"/>
                  </a:lnTo>
                  <a:cubicBezTo>
                    <a:pt x="82296" y="3767582"/>
                    <a:pt x="0" y="3685667"/>
                    <a:pt x="0" y="3584702"/>
                  </a:cubicBez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7298182" cy="3805682"/>
            </a:xfrm>
            <a:custGeom>
              <a:avLst/>
              <a:gdLst/>
              <a:ahLst/>
              <a:cxnLst/>
              <a:rect l="l" t="t" r="r" b="b"/>
              <a:pathLst>
                <a:path w="7298182" h="3805682">
                  <a:moveTo>
                    <a:pt x="0" y="201930"/>
                  </a:moveTo>
                  <a:cubicBezTo>
                    <a:pt x="0" y="90297"/>
                    <a:pt x="90932" y="0"/>
                    <a:pt x="202819" y="0"/>
                  </a:cubicBezTo>
                  <a:lnTo>
                    <a:pt x="7095363" y="0"/>
                  </a:lnTo>
                  <a:lnTo>
                    <a:pt x="7095363" y="19050"/>
                  </a:lnTo>
                  <a:lnTo>
                    <a:pt x="7095363" y="0"/>
                  </a:lnTo>
                  <a:cubicBezTo>
                    <a:pt x="7207250" y="0"/>
                    <a:pt x="7298182" y="90297"/>
                    <a:pt x="7298182" y="201930"/>
                  </a:cubicBezTo>
                  <a:lnTo>
                    <a:pt x="7279132" y="201930"/>
                  </a:lnTo>
                  <a:lnTo>
                    <a:pt x="7298182" y="201930"/>
                  </a:lnTo>
                  <a:lnTo>
                    <a:pt x="7298182" y="3603752"/>
                  </a:lnTo>
                  <a:lnTo>
                    <a:pt x="7279132" y="3603752"/>
                  </a:lnTo>
                  <a:lnTo>
                    <a:pt x="7298182" y="3603752"/>
                  </a:lnTo>
                  <a:cubicBezTo>
                    <a:pt x="7298182" y="3715385"/>
                    <a:pt x="7207250" y="3805682"/>
                    <a:pt x="7095363" y="3805682"/>
                  </a:cubicBezTo>
                  <a:lnTo>
                    <a:pt x="7095363" y="3786632"/>
                  </a:lnTo>
                  <a:lnTo>
                    <a:pt x="7095363" y="3805682"/>
                  </a:lnTo>
                  <a:lnTo>
                    <a:pt x="202819" y="3805682"/>
                  </a:lnTo>
                  <a:lnTo>
                    <a:pt x="202819" y="3786632"/>
                  </a:lnTo>
                  <a:lnTo>
                    <a:pt x="202819" y="3805682"/>
                  </a:lnTo>
                  <a:cubicBezTo>
                    <a:pt x="90932" y="3805682"/>
                    <a:pt x="0" y="3715258"/>
                    <a:pt x="0" y="360375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603752"/>
                  </a:lnTo>
                  <a:lnTo>
                    <a:pt x="19050" y="3603752"/>
                  </a:lnTo>
                  <a:lnTo>
                    <a:pt x="38100" y="3603752"/>
                  </a:lnTo>
                  <a:cubicBezTo>
                    <a:pt x="38100" y="3694176"/>
                    <a:pt x="111760" y="3767582"/>
                    <a:pt x="202819" y="3767582"/>
                  </a:cubicBezTo>
                  <a:lnTo>
                    <a:pt x="7095363" y="3767582"/>
                  </a:lnTo>
                  <a:cubicBezTo>
                    <a:pt x="7186422" y="3767582"/>
                    <a:pt x="7260082" y="3694176"/>
                    <a:pt x="7260082" y="3603752"/>
                  </a:cubicBezTo>
                  <a:lnTo>
                    <a:pt x="7260082" y="201930"/>
                  </a:lnTo>
                  <a:cubicBezTo>
                    <a:pt x="7260082" y="111506"/>
                    <a:pt x="7186422" y="38100"/>
                    <a:pt x="7095363" y="38100"/>
                  </a:cubicBezTo>
                  <a:lnTo>
                    <a:pt x="202819" y="38100"/>
                  </a:lnTo>
                  <a:lnTo>
                    <a:pt x="202819" y="19050"/>
                  </a:lnTo>
                  <a:lnTo>
                    <a:pt x="202819" y="38100"/>
                  </a:lnTo>
                  <a:cubicBezTo>
                    <a:pt x="111760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054929" y="2646909"/>
            <a:ext cx="114300" cy="2825651"/>
            <a:chOff x="0" y="0"/>
            <a:chExt cx="152400" cy="376753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52400" cy="3767582"/>
            </a:xfrm>
            <a:custGeom>
              <a:avLst/>
              <a:gdLst/>
              <a:ahLst/>
              <a:cxnLst/>
              <a:rect l="l" t="t" r="r" b="b"/>
              <a:pathLst>
                <a:path w="152400" h="3767582">
                  <a:moveTo>
                    <a:pt x="0" y="43434"/>
                  </a:moveTo>
                  <a:cubicBezTo>
                    <a:pt x="0" y="19431"/>
                    <a:pt x="19431" y="0"/>
                    <a:pt x="43434" y="0"/>
                  </a:cubicBezTo>
                  <a:lnTo>
                    <a:pt x="108966" y="0"/>
                  </a:lnTo>
                  <a:cubicBezTo>
                    <a:pt x="132969" y="0"/>
                    <a:pt x="152400" y="19431"/>
                    <a:pt x="152400" y="43434"/>
                  </a:cubicBezTo>
                  <a:lnTo>
                    <a:pt x="152400" y="3724148"/>
                  </a:lnTo>
                  <a:cubicBezTo>
                    <a:pt x="152400" y="3748151"/>
                    <a:pt x="132969" y="3767582"/>
                    <a:pt x="108966" y="3767582"/>
                  </a:cubicBezTo>
                  <a:lnTo>
                    <a:pt x="43434" y="3767582"/>
                  </a:lnTo>
                  <a:cubicBezTo>
                    <a:pt x="19431" y="3767582"/>
                    <a:pt x="0" y="3748151"/>
                    <a:pt x="0" y="3724148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2414796" y="2873425"/>
            <a:ext cx="3206204" cy="3424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2325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Angular Build Errors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414796" y="3285381"/>
            <a:ext cx="4868168" cy="36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6"/>
              </a:lnSpc>
            </a:pPr>
            <a:r>
              <a:rPr lang="en-US" sz="18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Issue:</a:t>
            </a:r>
            <a:r>
              <a:rPr lang="en-US" sz="18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Compilation fails with cryptic messages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14796" y="3762524"/>
            <a:ext cx="4868168" cy="1125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6"/>
              </a:lnSpc>
            </a:pPr>
            <a:r>
              <a:rPr lang="en-US" sz="18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Solution:</a:t>
            </a:r>
            <a:r>
              <a:rPr lang="en-US" sz="18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Verify all imports, check for typos in component selectors, and ensure dependencies are installed correctly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745182" y="5675262"/>
            <a:ext cx="5473601" cy="2854226"/>
            <a:chOff x="0" y="0"/>
            <a:chExt cx="7298135" cy="3805635"/>
          </a:xfrm>
        </p:grpSpPr>
        <p:sp>
          <p:nvSpPr>
            <p:cNvPr id="33" name="Freeform 33"/>
            <p:cNvSpPr/>
            <p:nvPr/>
          </p:nvSpPr>
          <p:spPr>
            <a:xfrm>
              <a:off x="19050" y="19050"/>
              <a:ext cx="7260082" cy="3767582"/>
            </a:xfrm>
            <a:custGeom>
              <a:avLst/>
              <a:gdLst/>
              <a:ahLst/>
              <a:cxnLst/>
              <a:rect l="l" t="t" r="r" b="b"/>
              <a:pathLst>
                <a:path w="7260082" h="3767582">
                  <a:moveTo>
                    <a:pt x="0" y="182880"/>
                  </a:moveTo>
                  <a:cubicBezTo>
                    <a:pt x="0" y="81915"/>
                    <a:pt x="82296" y="0"/>
                    <a:pt x="183769" y="0"/>
                  </a:cubicBezTo>
                  <a:lnTo>
                    <a:pt x="7076313" y="0"/>
                  </a:lnTo>
                  <a:cubicBezTo>
                    <a:pt x="7177786" y="0"/>
                    <a:pt x="7260082" y="81915"/>
                    <a:pt x="7260082" y="182880"/>
                  </a:cubicBezTo>
                  <a:lnTo>
                    <a:pt x="7260082" y="3584702"/>
                  </a:lnTo>
                  <a:cubicBezTo>
                    <a:pt x="7260082" y="3685667"/>
                    <a:pt x="7177786" y="3767582"/>
                    <a:pt x="7076313" y="3767582"/>
                  </a:cubicBezTo>
                  <a:lnTo>
                    <a:pt x="183769" y="3767582"/>
                  </a:lnTo>
                  <a:cubicBezTo>
                    <a:pt x="82296" y="3767582"/>
                    <a:pt x="0" y="3685667"/>
                    <a:pt x="0" y="3584702"/>
                  </a:cubicBez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7298182" cy="3805682"/>
            </a:xfrm>
            <a:custGeom>
              <a:avLst/>
              <a:gdLst/>
              <a:ahLst/>
              <a:cxnLst/>
              <a:rect l="l" t="t" r="r" b="b"/>
              <a:pathLst>
                <a:path w="7298182" h="3805682">
                  <a:moveTo>
                    <a:pt x="0" y="201930"/>
                  </a:moveTo>
                  <a:cubicBezTo>
                    <a:pt x="0" y="90297"/>
                    <a:pt x="90932" y="0"/>
                    <a:pt x="202819" y="0"/>
                  </a:cubicBezTo>
                  <a:lnTo>
                    <a:pt x="7095363" y="0"/>
                  </a:lnTo>
                  <a:lnTo>
                    <a:pt x="7095363" y="19050"/>
                  </a:lnTo>
                  <a:lnTo>
                    <a:pt x="7095363" y="0"/>
                  </a:lnTo>
                  <a:cubicBezTo>
                    <a:pt x="7207250" y="0"/>
                    <a:pt x="7298182" y="90297"/>
                    <a:pt x="7298182" y="201930"/>
                  </a:cubicBezTo>
                  <a:lnTo>
                    <a:pt x="7279132" y="201930"/>
                  </a:lnTo>
                  <a:lnTo>
                    <a:pt x="7298182" y="201930"/>
                  </a:lnTo>
                  <a:lnTo>
                    <a:pt x="7298182" y="3603752"/>
                  </a:lnTo>
                  <a:lnTo>
                    <a:pt x="7279132" y="3603752"/>
                  </a:lnTo>
                  <a:lnTo>
                    <a:pt x="7298182" y="3603752"/>
                  </a:lnTo>
                  <a:cubicBezTo>
                    <a:pt x="7298182" y="3715385"/>
                    <a:pt x="7207250" y="3805682"/>
                    <a:pt x="7095363" y="3805682"/>
                  </a:cubicBezTo>
                  <a:lnTo>
                    <a:pt x="7095363" y="3786632"/>
                  </a:lnTo>
                  <a:lnTo>
                    <a:pt x="7095363" y="3805682"/>
                  </a:lnTo>
                  <a:lnTo>
                    <a:pt x="202819" y="3805682"/>
                  </a:lnTo>
                  <a:lnTo>
                    <a:pt x="202819" y="3786632"/>
                  </a:lnTo>
                  <a:lnTo>
                    <a:pt x="202819" y="3805682"/>
                  </a:lnTo>
                  <a:cubicBezTo>
                    <a:pt x="90932" y="3805682"/>
                    <a:pt x="0" y="3715258"/>
                    <a:pt x="0" y="360375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603752"/>
                  </a:lnTo>
                  <a:lnTo>
                    <a:pt x="19050" y="3603752"/>
                  </a:lnTo>
                  <a:lnTo>
                    <a:pt x="38100" y="3603752"/>
                  </a:lnTo>
                  <a:cubicBezTo>
                    <a:pt x="38100" y="3694176"/>
                    <a:pt x="111760" y="3767582"/>
                    <a:pt x="202819" y="3767582"/>
                  </a:cubicBezTo>
                  <a:lnTo>
                    <a:pt x="7095363" y="3767582"/>
                  </a:lnTo>
                  <a:cubicBezTo>
                    <a:pt x="7186422" y="3767582"/>
                    <a:pt x="7260082" y="3694176"/>
                    <a:pt x="7260082" y="3603752"/>
                  </a:cubicBezTo>
                  <a:lnTo>
                    <a:pt x="7260082" y="201930"/>
                  </a:lnTo>
                  <a:cubicBezTo>
                    <a:pt x="7260082" y="111506"/>
                    <a:pt x="7186422" y="38100"/>
                    <a:pt x="7095363" y="38100"/>
                  </a:cubicBezTo>
                  <a:lnTo>
                    <a:pt x="202819" y="38100"/>
                  </a:lnTo>
                  <a:lnTo>
                    <a:pt x="202819" y="19050"/>
                  </a:lnTo>
                  <a:lnTo>
                    <a:pt x="202819" y="38100"/>
                  </a:lnTo>
                  <a:cubicBezTo>
                    <a:pt x="111760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30895" y="5689550"/>
            <a:ext cx="114300" cy="2825651"/>
            <a:chOff x="0" y="0"/>
            <a:chExt cx="152400" cy="376753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52400" cy="3767582"/>
            </a:xfrm>
            <a:custGeom>
              <a:avLst/>
              <a:gdLst/>
              <a:ahLst/>
              <a:cxnLst/>
              <a:rect l="l" t="t" r="r" b="b"/>
              <a:pathLst>
                <a:path w="152400" h="3767582">
                  <a:moveTo>
                    <a:pt x="0" y="43434"/>
                  </a:moveTo>
                  <a:cubicBezTo>
                    <a:pt x="0" y="19431"/>
                    <a:pt x="19431" y="0"/>
                    <a:pt x="43434" y="0"/>
                  </a:cubicBezTo>
                  <a:lnTo>
                    <a:pt x="108966" y="0"/>
                  </a:lnTo>
                  <a:cubicBezTo>
                    <a:pt x="132969" y="0"/>
                    <a:pt x="152400" y="19431"/>
                    <a:pt x="152400" y="43434"/>
                  </a:cubicBezTo>
                  <a:lnTo>
                    <a:pt x="152400" y="3724148"/>
                  </a:lnTo>
                  <a:cubicBezTo>
                    <a:pt x="152400" y="3748151"/>
                    <a:pt x="132969" y="3767582"/>
                    <a:pt x="108966" y="3767582"/>
                  </a:cubicBezTo>
                  <a:lnTo>
                    <a:pt x="43434" y="3767582"/>
                  </a:lnTo>
                  <a:cubicBezTo>
                    <a:pt x="19431" y="3767582"/>
                    <a:pt x="0" y="3748151"/>
                    <a:pt x="0" y="3724148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90761" y="5916066"/>
            <a:ext cx="4255294" cy="370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2325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MongoDB Connection Timeouts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90761" y="6328022"/>
            <a:ext cx="4868168" cy="744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6"/>
              </a:lnSpc>
            </a:pPr>
            <a:r>
              <a:rPr lang="en-US" sz="18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Issue:</a:t>
            </a:r>
            <a:r>
              <a:rPr lang="en-US" sz="18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Database won't connect or takes too long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47899" y="7110213"/>
            <a:ext cx="4868168" cy="1125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6"/>
              </a:lnSpc>
            </a:pPr>
            <a:r>
              <a:rPr lang="en-US" sz="18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Solution:</a:t>
            </a:r>
            <a:r>
              <a:rPr lang="en-US" sz="18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Verify connection string, check network access settings in MongoDB Atlas, and ensure IP whitelist is configured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6407200" y="5675262"/>
            <a:ext cx="5473601" cy="2854226"/>
            <a:chOff x="0" y="0"/>
            <a:chExt cx="7298135" cy="3805635"/>
          </a:xfrm>
        </p:grpSpPr>
        <p:sp>
          <p:nvSpPr>
            <p:cNvPr id="41" name="Freeform 41"/>
            <p:cNvSpPr/>
            <p:nvPr/>
          </p:nvSpPr>
          <p:spPr>
            <a:xfrm>
              <a:off x="19050" y="19050"/>
              <a:ext cx="7260082" cy="3767582"/>
            </a:xfrm>
            <a:custGeom>
              <a:avLst/>
              <a:gdLst/>
              <a:ahLst/>
              <a:cxnLst/>
              <a:rect l="l" t="t" r="r" b="b"/>
              <a:pathLst>
                <a:path w="7260082" h="3767582">
                  <a:moveTo>
                    <a:pt x="0" y="182880"/>
                  </a:moveTo>
                  <a:cubicBezTo>
                    <a:pt x="0" y="81915"/>
                    <a:pt x="82296" y="0"/>
                    <a:pt x="183769" y="0"/>
                  </a:cubicBezTo>
                  <a:lnTo>
                    <a:pt x="7076313" y="0"/>
                  </a:lnTo>
                  <a:cubicBezTo>
                    <a:pt x="7177786" y="0"/>
                    <a:pt x="7260082" y="81915"/>
                    <a:pt x="7260082" y="182880"/>
                  </a:cubicBezTo>
                  <a:lnTo>
                    <a:pt x="7260082" y="3584702"/>
                  </a:lnTo>
                  <a:cubicBezTo>
                    <a:pt x="7260082" y="3685667"/>
                    <a:pt x="7177786" y="3767582"/>
                    <a:pt x="7076313" y="3767582"/>
                  </a:cubicBezTo>
                  <a:lnTo>
                    <a:pt x="183769" y="3767582"/>
                  </a:lnTo>
                  <a:cubicBezTo>
                    <a:pt x="82296" y="3767582"/>
                    <a:pt x="0" y="3685667"/>
                    <a:pt x="0" y="3584702"/>
                  </a:cubicBez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0" y="0"/>
              <a:ext cx="7298182" cy="3805682"/>
            </a:xfrm>
            <a:custGeom>
              <a:avLst/>
              <a:gdLst/>
              <a:ahLst/>
              <a:cxnLst/>
              <a:rect l="l" t="t" r="r" b="b"/>
              <a:pathLst>
                <a:path w="7298182" h="3805682">
                  <a:moveTo>
                    <a:pt x="0" y="201930"/>
                  </a:moveTo>
                  <a:cubicBezTo>
                    <a:pt x="0" y="90297"/>
                    <a:pt x="90932" y="0"/>
                    <a:pt x="202819" y="0"/>
                  </a:cubicBezTo>
                  <a:lnTo>
                    <a:pt x="7095363" y="0"/>
                  </a:lnTo>
                  <a:lnTo>
                    <a:pt x="7095363" y="19050"/>
                  </a:lnTo>
                  <a:lnTo>
                    <a:pt x="7095363" y="0"/>
                  </a:lnTo>
                  <a:cubicBezTo>
                    <a:pt x="7207250" y="0"/>
                    <a:pt x="7298182" y="90297"/>
                    <a:pt x="7298182" y="201930"/>
                  </a:cubicBezTo>
                  <a:lnTo>
                    <a:pt x="7279132" y="201930"/>
                  </a:lnTo>
                  <a:lnTo>
                    <a:pt x="7298182" y="201930"/>
                  </a:lnTo>
                  <a:lnTo>
                    <a:pt x="7298182" y="3603752"/>
                  </a:lnTo>
                  <a:lnTo>
                    <a:pt x="7279132" y="3603752"/>
                  </a:lnTo>
                  <a:lnTo>
                    <a:pt x="7298182" y="3603752"/>
                  </a:lnTo>
                  <a:cubicBezTo>
                    <a:pt x="7298182" y="3715385"/>
                    <a:pt x="7207250" y="3805682"/>
                    <a:pt x="7095363" y="3805682"/>
                  </a:cubicBezTo>
                  <a:lnTo>
                    <a:pt x="7095363" y="3786632"/>
                  </a:lnTo>
                  <a:lnTo>
                    <a:pt x="7095363" y="3805682"/>
                  </a:lnTo>
                  <a:lnTo>
                    <a:pt x="202819" y="3805682"/>
                  </a:lnTo>
                  <a:lnTo>
                    <a:pt x="202819" y="3786632"/>
                  </a:lnTo>
                  <a:lnTo>
                    <a:pt x="202819" y="3805682"/>
                  </a:lnTo>
                  <a:cubicBezTo>
                    <a:pt x="90932" y="3805682"/>
                    <a:pt x="0" y="3715258"/>
                    <a:pt x="0" y="3603752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603752"/>
                  </a:lnTo>
                  <a:lnTo>
                    <a:pt x="19050" y="3603752"/>
                  </a:lnTo>
                  <a:lnTo>
                    <a:pt x="38100" y="3603752"/>
                  </a:lnTo>
                  <a:cubicBezTo>
                    <a:pt x="38100" y="3694176"/>
                    <a:pt x="111760" y="3767582"/>
                    <a:pt x="202819" y="3767582"/>
                  </a:cubicBezTo>
                  <a:lnTo>
                    <a:pt x="7095363" y="3767582"/>
                  </a:lnTo>
                  <a:cubicBezTo>
                    <a:pt x="7186422" y="3767582"/>
                    <a:pt x="7260082" y="3694176"/>
                    <a:pt x="7260082" y="3603752"/>
                  </a:cubicBezTo>
                  <a:lnTo>
                    <a:pt x="7260082" y="201930"/>
                  </a:lnTo>
                  <a:cubicBezTo>
                    <a:pt x="7260082" y="111506"/>
                    <a:pt x="7186422" y="38100"/>
                    <a:pt x="7095363" y="38100"/>
                  </a:cubicBezTo>
                  <a:lnTo>
                    <a:pt x="202819" y="38100"/>
                  </a:lnTo>
                  <a:lnTo>
                    <a:pt x="202819" y="19050"/>
                  </a:lnTo>
                  <a:lnTo>
                    <a:pt x="202819" y="38100"/>
                  </a:lnTo>
                  <a:cubicBezTo>
                    <a:pt x="111760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392912" y="5689550"/>
            <a:ext cx="114300" cy="2825651"/>
            <a:chOff x="0" y="0"/>
            <a:chExt cx="152400" cy="3767535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52400" cy="3767582"/>
            </a:xfrm>
            <a:custGeom>
              <a:avLst/>
              <a:gdLst/>
              <a:ahLst/>
              <a:cxnLst/>
              <a:rect l="l" t="t" r="r" b="b"/>
              <a:pathLst>
                <a:path w="152400" h="3767582">
                  <a:moveTo>
                    <a:pt x="0" y="43434"/>
                  </a:moveTo>
                  <a:cubicBezTo>
                    <a:pt x="0" y="19431"/>
                    <a:pt x="19431" y="0"/>
                    <a:pt x="43434" y="0"/>
                  </a:cubicBezTo>
                  <a:lnTo>
                    <a:pt x="108966" y="0"/>
                  </a:lnTo>
                  <a:cubicBezTo>
                    <a:pt x="132969" y="0"/>
                    <a:pt x="152400" y="19431"/>
                    <a:pt x="152400" y="43434"/>
                  </a:cubicBezTo>
                  <a:lnTo>
                    <a:pt x="152400" y="3724148"/>
                  </a:lnTo>
                  <a:cubicBezTo>
                    <a:pt x="152400" y="3748151"/>
                    <a:pt x="132969" y="3767582"/>
                    <a:pt x="108966" y="3767582"/>
                  </a:cubicBezTo>
                  <a:lnTo>
                    <a:pt x="43434" y="3767582"/>
                  </a:lnTo>
                  <a:cubicBezTo>
                    <a:pt x="19431" y="3767582"/>
                    <a:pt x="0" y="3748151"/>
                    <a:pt x="0" y="3724148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6752779" y="5916066"/>
            <a:ext cx="3524250" cy="370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2325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Render Deployment Issues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752779" y="6328022"/>
            <a:ext cx="4868168" cy="744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6"/>
              </a:lnSpc>
            </a:pPr>
            <a:r>
              <a:rPr lang="en-US" sz="18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Issue:</a:t>
            </a:r>
            <a:r>
              <a:rPr lang="en-US" sz="18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Application fails to deploy or run in production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752779" y="7152234"/>
            <a:ext cx="4868168" cy="1125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6"/>
              </a:lnSpc>
            </a:pPr>
            <a:r>
              <a:rPr lang="en-US" sz="18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Solution:</a:t>
            </a:r>
            <a:r>
              <a:rPr lang="en-US" sz="18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Check environment variables, build scripts, and ensure all dependencies are listed in package.json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759470" y="8759279"/>
            <a:ext cx="16769060" cy="931515"/>
            <a:chOff x="0" y="0"/>
            <a:chExt cx="22358747" cy="124202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2358857" cy="1242060"/>
            </a:xfrm>
            <a:custGeom>
              <a:avLst/>
              <a:gdLst/>
              <a:ahLst/>
              <a:cxnLst/>
              <a:rect l="l" t="t" r="r" b="b"/>
              <a:pathLst>
                <a:path w="22358857" h="1242060">
                  <a:moveTo>
                    <a:pt x="0" y="43434"/>
                  </a:moveTo>
                  <a:cubicBezTo>
                    <a:pt x="0" y="19431"/>
                    <a:pt x="19431" y="0"/>
                    <a:pt x="43434" y="0"/>
                  </a:cubicBezTo>
                  <a:lnTo>
                    <a:pt x="22315424" y="0"/>
                  </a:lnTo>
                  <a:cubicBezTo>
                    <a:pt x="22339427" y="0"/>
                    <a:pt x="22358857" y="19431"/>
                    <a:pt x="22358857" y="43434"/>
                  </a:cubicBezTo>
                  <a:lnTo>
                    <a:pt x="22358857" y="1198626"/>
                  </a:lnTo>
                  <a:cubicBezTo>
                    <a:pt x="22358857" y="1222629"/>
                    <a:pt x="22339427" y="1242060"/>
                    <a:pt x="22315424" y="1242060"/>
                  </a:cubicBezTo>
                  <a:lnTo>
                    <a:pt x="43434" y="1242060"/>
                  </a:lnTo>
                  <a:cubicBezTo>
                    <a:pt x="19431" y="1242060"/>
                    <a:pt x="0" y="1222629"/>
                    <a:pt x="0" y="1198626"/>
                  </a:cubicBezTo>
                  <a:close/>
                </a:path>
              </a:pathLst>
            </a:custGeom>
            <a:solidFill>
              <a:srgbClr val="DBDBD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50" name="Group 50"/>
          <p:cNvGrpSpPr>
            <a:grpSpLocks noChangeAspect="1"/>
          </p:cNvGrpSpPr>
          <p:nvPr/>
        </p:nvGrpSpPr>
        <p:grpSpPr>
          <a:xfrm>
            <a:off x="976461" y="9088190"/>
            <a:ext cx="271165" cy="216991"/>
            <a:chOff x="0" y="0"/>
            <a:chExt cx="361553" cy="289322"/>
          </a:xfrm>
        </p:grpSpPr>
        <p:sp>
          <p:nvSpPr>
            <p:cNvPr id="51" name="Freeform 51" descr="preencoded.png"/>
            <p:cNvSpPr/>
            <p:nvPr/>
          </p:nvSpPr>
          <p:spPr>
            <a:xfrm>
              <a:off x="0" y="0"/>
              <a:ext cx="361569" cy="289306"/>
            </a:xfrm>
            <a:custGeom>
              <a:avLst/>
              <a:gdLst/>
              <a:ahLst/>
              <a:cxnLst/>
              <a:rect l="l" t="t" r="r" b="b"/>
              <a:pathLst>
                <a:path w="361569" h="289306">
                  <a:moveTo>
                    <a:pt x="0" y="0"/>
                  </a:moveTo>
                  <a:lnTo>
                    <a:pt x="361569" y="0"/>
                  </a:lnTo>
                  <a:lnTo>
                    <a:pt x="361569" y="289306"/>
                  </a:lnTo>
                  <a:lnTo>
                    <a:pt x="0" y="289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325" r="4" b="-1330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464618" y="8954244"/>
            <a:ext cx="15846921" cy="36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6"/>
              </a:lnSpc>
            </a:pPr>
            <a:r>
              <a:rPr lang="en-US" sz="1887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💡</a:t>
            </a:r>
            <a:r>
              <a:rPr lang="en-US" sz="188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Remember: We'll be available during class to help if you get stuck. Debugging is a crucial skill—don't hesitate to ask questions!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1400064" y="5458622"/>
            <a:ext cx="6384131" cy="4612481"/>
            <a:chOff x="0" y="0"/>
            <a:chExt cx="8512175" cy="61499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12175" cy="6149975"/>
            </a:xfrm>
            <a:custGeom>
              <a:avLst/>
              <a:gdLst/>
              <a:ahLst/>
              <a:cxnLst/>
              <a:rect l="l" t="t" r="r" b="b"/>
              <a:pathLst>
                <a:path w="8512175" h="6149975">
                  <a:moveTo>
                    <a:pt x="0" y="0"/>
                  </a:moveTo>
                  <a:lnTo>
                    <a:pt x="8512175" y="0"/>
                  </a:lnTo>
                  <a:lnTo>
                    <a:pt x="8512175" y="6149975"/>
                  </a:lnTo>
                  <a:lnTo>
                    <a:pt x="0" y="6149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119" r="-4119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64233" y="562421"/>
            <a:ext cx="12868126" cy="741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49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Essential VS Code Extensions for Your Workflow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4232" y="1624310"/>
            <a:ext cx="16759535" cy="409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1"/>
              </a:lnSpc>
            </a:pPr>
            <a:r>
              <a:rPr lang="en-US" sz="20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These powerful extensions will make your development experience smoother, faster, and more enjoyable during the exercise and beyond.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4232" y="2513708"/>
            <a:ext cx="1445568" cy="3670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24" b="1" dirty="0" err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ESLint</a:t>
            </a:r>
            <a:endParaRPr lang="en-US" sz="2524" b="1" dirty="0">
              <a:solidFill>
                <a:srgbClr val="4A4A45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64232" y="2909590"/>
            <a:ext cx="3985171" cy="21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1"/>
              </a:lnSpc>
            </a:pPr>
            <a:r>
              <a:rPr lang="en-US" sz="20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Automatically catches errors and enforces consistent coding standards. Improves code quality by highlighting potential bugs and style issues in real-time.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2354" y="2513707"/>
            <a:ext cx="3359646" cy="3670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24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MongoDB for VS Code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22354" y="2909590"/>
            <a:ext cx="3985171" cy="21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1"/>
              </a:lnSpc>
            </a:pPr>
            <a:r>
              <a:rPr lang="en-US" sz="20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Connect directly to MongoDB Atlas from your editor. Browse collections, run queries, and manage your database without leaving VS Code.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80475" y="2513708"/>
            <a:ext cx="4123879" cy="3670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24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Angular Language Service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80475" y="2909590"/>
            <a:ext cx="3985171" cy="21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1"/>
              </a:lnSpc>
            </a:pPr>
            <a:r>
              <a:rPr lang="en-US" sz="20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Provides intelligent code completion, error checking, and navigation for Angular templates. Makes working with components and directives much easier.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38597" y="2513707"/>
            <a:ext cx="2006203" cy="3670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24" b="1" dirty="0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Postman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538597" y="2909590"/>
            <a:ext cx="3985171" cy="21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1"/>
              </a:lnSpc>
            </a:pPr>
            <a:r>
              <a:rPr lang="en-US" sz="20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Test your API routes easily with a user-friendly interface. Send requests, inspect responses, and debug your backend endpoints efficiently.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4233" y="5915822"/>
            <a:ext cx="4417367" cy="436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85"/>
              </a:lnSpc>
            </a:pPr>
            <a:r>
              <a:rPr lang="en-US" sz="2962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Why These Tools Matter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4233" y="6457854"/>
            <a:ext cx="9842599" cy="83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1"/>
              </a:lnSpc>
            </a:pPr>
            <a:r>
              <a:rPr lang="en-US" sz="20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Professional developers rely on extensions to boost productivity and reduce errors. Installing these tools now will help you: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4233" y="7352907"/>
            <a:ext cx="9842599" cy="409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4820" lvl="1" indent="-157410" algn="l">
              <a:lnSpc>
                <a:spcPts val="3401"/>
              </a:lnSpc>
              <a:buFont typeface="Arial"/>
              <a:buChar char="•"/>
            </a:pPr>
            <a:r>
              <a:rPr lang="en-US" sz="20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Write cleaner, more maintainable code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4233" y="7778554"/>
            <a:ext cx="9842599" cy="409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4820" lvl="1" indent="-157410" algn="l">
              <a:lnSpc>
                <a:spcPts val="3401"/>
              </a:lnSpc>
              <a:buFont typeface="Arial"/>
              <a:buChar char="•"/>
            </a:pPr>
            <a:r>
              <a:rPr lang="en-US" sz="20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Debug issues faster and more effectively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4233" y="8204203"/>
            <a:ext cx="9842599" cy="409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4820" lvl="1" indent="-157410" algn="l">
              <a:lnSpc>
                <a:spcPts val="3401"/>
              </a:lnSpc>
              <a:buFont typeface="Arial"/>
              <a:buChar char="•"/>
            </a:pPr>
            <a:r>
              <a:rPr lang="en-US" sz="20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Understand best practices through real-time feedback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64233" y="8629852"/>
            <a:ext cx="9842599" cy="409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4820" lvl="1" indent="-157410" algn="l">
              <a:lnSpc>
                <a:spcPts val="3401"/>
              </a:lnSpc>
              <a:buFont typeface="Arial"/>
              <a:buChar char="•"/>
            </a:pPr>
            <a:r>
              <a:rPr lang="en-US" sz="20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Build confidence in your development workflow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D6C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CE6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81360" y="644872"/>
            <a:ext cx="13749040" cy="14623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75"/>
              </a:lnSpc>
            </a:pPr>
            <a:r>
              <a:rPr lang="en-US" sz="9875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Questions &amp; Next Steps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1360" y="2867323"/>
            <a:ext cx="7043440" cy="5788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Thank You for Your Attention!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1360" y="3701057"/>
            <a:ext cx="7955459" cy="1284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We're excited to walk you through the hands-on exercise now. This is where theory meets practice, and you'll see how all the pieces of the MEAN/MERN stack come together beautifully.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1360" y="5136208"/>
            <a:ext cx="7955459" cy="1284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Remember, learning to code is a journey. Every error message is a learning opportunity, and every successfully running application is a milestone worth celebrating.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60706" y="2867323"/>
            <a:ext cx="6160294" cy="5788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Feel Free to Ask Questions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60706" y="3701057"/>
            <a:ext cx="7955459" cy="1284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No question is too small or too basic. We're here to help you succeed, whether you need clarification on concepts, debugging assistance, or guidance on best practices.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38432" y="5192911"/>
            <a:ext cx="7577733" cy="88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"The only way to learn a new programming language is by writing programs in it." — Dennis Ritchie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460706" y="5269111"/>
            <a:ext cx="28575" cy="805755"/>
            <a:chOff x="0" y="0"/>
            <a:chExt cx="38100" cy="10743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100" cy="1074293"/>
            </a:xfrm>
            <a:custGeom>
              <a:avLst/>
              <a:gdLst/>
              <a:ahLst/>
              <a:cxnLst/>
              <a:rect l="l" t="t" r="r" b="b"/>
              <a:pathLst>
                <a:path w="38100" h="1074293">
                  <a:moveTo>
                    <a:pt x="0" y="0"/>
                  </a:moveTo>
                  <a:lnTo>
                    <a:pt x="38100" y="0"/>
                  </a:lnTo>
                  <a:lnTo>
                    <a:pt x="38100" y="1074293"/>
                  </a:lnTo>
                  <a:lnTo>
                    <a:pt x="0" y="1074293"/>
                  </a:ln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81360" y="6930778"/>
            <a:ext cx="5340549" cy="1863329"/>
            <a:chOff x="0" y="0"/>
            <a:chExt cx="7120732" cy="248443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120762" cy="2484501"/>
            </a:xfrm>
            <a:custGeom>
              <a:avLst/>
              <a:gdLst/>
              <a:ahLst/>
              <a:cxnLst/>
              <a:rect l="l" t="t" r="r" b="b"/>
              <a:pathLst>
                <a:path w="7120762" h="2484501">
                  <a:moveTo>
                    <a:pt x="0" y="50419"/>
                  </a:moveTo>
                  <a:cubicBezTo>
                    <a:pt x="0" y="22606"/>
                    <a:pt x="22606" y="0"/>
                    <a:pt x="50419" y="0"/>
                  </a:cubicBezTo>
                  <a:lnTo>
                    <a:pt x="7070344" y="0"/>
                  </a:lnTo>
                  <a:cubicBezTo>
                    <a:pt x="7098157" y="0"/>
                    <a:pt x="7120762" y="22606"/>
                    <a:pt x="7120762" y="50419"/>
                  </a:cubicBezTo>
                  <a:lnTo>
                    <a:pt x="7120762" y="2434082"/>
                  </a:lnTo>
                  <a:cubicBezTo>
                    <a:pt x="7120762" y="2461895"/>
                    <a:pt x="7098157" y="2484501"/>
                    <a:pt x="7070344" y="2484501"/>
                  </a:cubicBezTo>
                  <a:lnTo>
                    <a:pt x="50419" y="2484501"/>
                  </a:lnTo>
                  <a:cubicBezTo>
                    <a:pt x="22606" y="2484501"/>
                    <a:pt x="0" y="2461895"/>
                    <a:pt x="0" y="2434082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33177" y="7173069"/>
            <a:ext cx="3147715" cy="41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🚀</a:t>
            </a:r>
            <a:r>
              <a:rPr lang="en-US" sz="2437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 Ready to Code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3177" y="7660332"/>
            <a:ext cx="4836914" cy="88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Clone the repository and start building your first full-stack application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473726" y="6930778"/>
            <a:ext cx="5340549" cy="1863329"/>
            <a:chOff x="0" y="0"/>
            <a:chExt cx="7120732" cy="248443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120762" cy="2484501"/>
            </a:xfrm>
            <a:custGeom>
              <a:avLst/>
              <a:gdLst/>
              <a:ahLst/>
              <a:cxnLst/>
              <a:rect l="l" t="t" r="r" b="b"/>
              <a:pathLst>
                <a:path w="7120762" h="2484501">
                  <a:moveTo>
                    <a:pt x="0" y="50419"/>
                  </a:moveTo>
                  <a:cubicBezTo>
                    <a:pt x="0" y="22606"/>
                    <a:pt x="22606" y="0"/>
                    <a:pt x="50419" y="0"/>
                  </a:cubicBezTo>
                  <a:lnTo>
                    <a:pt x="7070344" y="0"/>
                  </a:lnTo>
                  <a:cubicBezTo>
                    <a:pt x="7098157" y="0"/>
                    <a:pt x="7120762" y="22606"/>
                    <a:pt x="7120762" y="50419"/>
                  </a:cubicBezTo>
                  <a:lnTo>
                    <a:pt x="7120762" y="2434082"/>
                  </a:lnTo>
                  <a:cubicBezTo>
                    <a:pt x="7120762" y="2461895"/>
                    <a:pt x="7098157" y="2484501"/>
                    <a:pt x="7070344" y="2484501"/>
                  </a:cubicBezTo>
                  <a:lnTo>
                    <a:pt x="50419" y="2484501"/>
                  </a:lnTo>
                  <a:cubicBezTo>
                    <a:pt x="22606" y="2484501"/>
                    <a:pt x="0" y="2461895"/>
                    <a:pt x="0" y="2434082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725542" y="7173069"/>
            <a:ext cx="3577313" cy="373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💪</a:t>
            </a:r>
            <a:r>
              <a:rPr lang="en-US" sz="2437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 Hands-On Learning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25542" y="7660332"/>
            <a:ext cx="4836914" cy="88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Apply everything you've learned through practical implementation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2066091" y="6930778"/>
            <a:ext cx="5340549" cy="1863329"/>
            <a:chOff x="0" y="0"/>
            <a:chExt cx="7120732" cy="248443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20762" cy="2484501"/>
            </a:xfrm>
            <a:custGeom>
              <a:avLst/>
              <a:gdLst/>
              <a:ahLst/>
              <a:cxnLst/>
              <a:rect l="l" t="t" r="r" b="b"/>
              <a:pathLst>
                <a:path w="7120762" h="2484501">
                  <a:moveTo>
                    <a:pt x="0" y="50419"/>
                  </a:moveTo>
                  <a:cubicBezTo>
                    <a:pt x="0" y="22606"/>
                    <a:pt x="22606" y="0"/>
                    <a:pt x="50419" y="0"/>
                  </a:cubicBezTo>
                  <a:lnTo>
                    <a:pt x="7070344" y="0"/>
                  </a:lnTo>
                  <a:cubicBezTo>
                    <a:pt x="7098157" y="0"/>
                    <a:pt x="7120762" y="22606"/>
                    <a:pt x="7120762" y="50419"/>
                  </a:cubicBezTo>
                  <a:lnTo>
                    <a:pt x="7120762" y="2434082"/>
                  </a:lnTo>
                  <a:cubicBezTo>
                    <a:pt x="7120762" y="2461895"/>
                    <a:pt x="7098157" y="2484501"/>
                    <a:pt x="7070344" y="2484501"/>
                  </a:cubicBezTo>
                  <a:lnTo>
                    <a:pt x="50419" y="2484501"/>
                  </a:lnTo>
                  <a:cubicBezTo>
                    <a:pt x="22606" y="2484501"/>
                    <a:pt x="0" y="2461895"/>
                    <a:pt x="0" y="2434082"/>
                  </a:cubicBezTo>
                  <a:close/>
                </a:path>
              </a:pathLst>
            </a:custGeom>
            <a:solidFill>
              <a:srgbClr val="282824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317909" y="7173069"/>
            <a:ext cx="3147715" cy="41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🎉</a:t>
            </a:r>
            <a:r>
              <a:rPr lang="en-US" sz="2437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 Celebrate Progress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17909" y="7660332"/>
            <a:ext cx="4836914" cy="88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19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Every line of code you write brings you closer to becoming a full-stack developer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81360" y="8982075"/>
            <a:ext cx="16525280" cy="61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Let's begin the exercise together! </a:t>
            </a:r>
            <a:r>
              <a:rPr lang="en-US" sz="2437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🎯</a:t>
            </a: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1668</Words>
  <Application>Microsoft Office PowerPoint</Application>
  <PresentationFormat>Custom</PresentationFormat>
  <Paragraphs>204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Lato Bold</vt:lpstr>
      <vt:lpstr>Calibri</vt:lpstr>
      <vt:lpstr>Lato</vt:lpstr>
      <vt:lpstr>Consolas</vt:lpstr>
      <vt:lpstr>Lato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PAYPAL_PPT.pptx</dc:title>
  <dc:creator>Dev's PC</dc:creator>
  <cp:lastModifiedBy>Purab Priyani</cp:lastModifiedBy>
  <cp:revision>10</cp:revision>
  <dcterms:created xsi:type="dcterms:W3CDTF">2006-08-16T00:00:00Z</dcterms:created>
  <dcterms:modified xsi:type="dcterms:W3CDTF">2025-11-23T20:33:49Z</dcterms:modified>
  <dc:identifier>DAG5Q_JCwh4</dc:identifier>
</cp:coreProperties>
</file>